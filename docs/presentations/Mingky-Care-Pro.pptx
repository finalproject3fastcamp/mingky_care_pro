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1695" cy="6858000"/>
  <p:notesSz cx="6858000" cy="12191695"/>
  <p:embeddedFontLst>
    <p:embeddedFont>
      <p:font typeface="DM Sans Medium"/>
      <p:regular r:id="rId201314"/>
    </p:embeddedFont>
    <p:embeddedFont>
      <p:font typeface="DM Sans SemiBold"/>
      <p:regular r:id="rId201315"/>
    </p:embeddedFont>
    <p:embeddedFont>
      <p:font typeface="DM Sans Bold"/>
      <p:regular r:id="rId201316"/>
    </p:embeddedFont>
    <p:embeddedFont>
      <p:font typeface="DM Sans Black"/>
      <p:regular r:id="rId201317"/>
    </p:embeddedFont>
    <p:embeddedFont>
      <p:font typeface="Inter Medium"/>
      <p:regular r:id="rId201318"/>
    </p:embeddedFont>
    <p:embeddedFont>
      <p:font typeface="Inter SemiBold"/>
      <p:regular r:id="rId201319"/>
    </p:embeddedFont>
    <p:embeddedFont>
      <p:font typeface="Inter Bold"/>
      <p:regular r:id="rId201320"/>
    </p:embeddedFont>
    <p:embeddedFont>
      <p:font typeface="Inter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ingkycarepro.site/medical" TargetMode="External"/><Relationship Id="rId1" Type="http://schemas.openxmlformats.org/officeDocument/2006/relationships/image" Target="../media/image-2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IydP0n4hkE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image" Target="../media/image-14-2.png"/><Relationship Id="rId5" Type="http://schemas.openxmlformats.org/officeDocument/2006/relationships/image" Target="../media/image-14-3.svg"/><Relationship Id="rId6" Type="http://schemas.openxmlformats.org/officeDocument/2006/relationships/image" Target="../media/image-14-6.png"/><Relationship Id="rId7" Type="http://schemas.openxmlformats.org/officeDocument/2006/relationships/image" Target="../media/image-14-7.svg"/><Relationship Id="rId8" Type="http://schemas.openxmlformats.org/officeDocument/2006/relationships/image" Target="../media/image-14-6.png"/><Relationship Id="rId9" Type="http://schemas.openxmlformats.org/officeDocument/2006/relationships/image" Target="../media/image-14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lwKbx3PGU8" TargetMode="Externa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kF5k4bYa9o" TargetMode="Externa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image" Target="../media/image-29-2.png"/><Relationship Id="rId3" Type="http://schemas.openxmlformats.org/officeDocument/2006/relationships/image" Target="../media/image-29-3.svg"/><Relationship Id="rId4" Type="http://schemas.openxmlformats.org/officeDocument/2006/relationships/image" Target="../media/image-29-2.png"/><Relationship Id="rId5" Type="http://schemas.openxmlformats.org/officeDocument/2006/relationships/image" Target="../media/image-29-3.svg"/><Relationship Id="rId6" Type="http://schemas.openxmlformats.org/officeDocument/2006/relationships/image" Target="../media/image-29-2.png"/><Relationship Id="rId7" Type="http://schemas.openxmlformats.org/officeDocument/2006/relationships/image" Target="../media/image-29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image" Target="../media/image-31-2.jpeg"/><Relationship Id="rId3" Type="http://schemas.openxmlformats.org/officeDocument/2006/relationships/image" Target="../media/image-31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inalproject3fastcamp/mingky_care_pro" TargetMode="External"/><Relationship Id="rId2" Type="http://schemas.openxmlformats.org/officeDocument/2006/relationships/image" Target="../media/image-32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457" y="2095401"/>
            <a:ext cx="4406492" cy="266719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876524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Mingky Care Pro 밍키케어프로</a:t>
            </a:r>
            <a:endParaRPr lang="ko-KR" sz="3250" dirty="0"/>
          </a:p>
        </p:txBody>
      </p:sp>
      <p:sp>
        <p:nvSpPr>
          <p:cNvPr id="5" name="Text 1"/>
          <p:cNvSpPr/>
          <p:nvPr/>
        </p:nvSpPr>
        <p:spPr>
          <a:xfrm>
            <a:off x="661475" y="3220145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6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대학병원 안내·조제 로봇 서비스 </a:t>
            </a:r>
            <a:endParaRPr lang="ko-KR" sz="2600" dirty="0"/>
          </a:p>
        </p:txBody>
      </p:sp>
      <p:sp>
        <p:nvSpPr>
          <p:cNvPr id="6" name="Text 2"/>
          <p:cNvSpPr/>
          <p:nvPr/>
        </p:nvSpPr>
        <p:spPr>
          <a:xfrm>
            <a:off x="661475" y="3881636"/>
            <a:ext cx="6296860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6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Pinky 자율주행 로봇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과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6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고정형 OMX로봇팔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을 연동하여</a:t>
            </a:r>
            <a:endParaRPr lang="ko-KR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환자의 병원 이용 전 과정을 지원하는</a:t>
            </a:r>
            <a:endParaRPr lang="ko-KR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6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멀티 로봇 기반 스마트 병원 서비스 플랫폼</a:t>
            </a:r>
            <a:endParaRPr lang="ko-KR" sz="1600" dirty="0"/>
          </a:p>
        </p:txBody>
      </p:sp>
      <p:sp>
        <p:nvSpPr>
          <p:cNvPr id="7" name="Text 3"/>
          <p:cNvSpPr/>
          <p:nvPr/>
        </p:nvSpPr>
        <p:spPr>
          <a:xfrm>
            <a:off x="6707615" y="6507361"/>
            <a:ext cx="796508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1331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6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대시 보드 사이트 </a:t>
            </a:r>
            <a:endParaRPr lang="ko-KR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97769"/>
            <a:ext cx="4634491" cy="4621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30156" y="1173163"/>
            <a:ext cx="5606314" cy="4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750"/>
              </a:spcAft>
              <a:buNone/>
            </a:pPr>
            <a:r>
              <a:rPr lang="ko-KR" alt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대시보드 사이트</a:t>
            </a:r>
            <a:endParaRPr lang="ko-KR" sz="10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ko-KR" altLang="en-US" sz="1050" b="1" u="sng" dirty="0">
                <a:solidFill>
                  <a:srgbClr val="3E8E4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https://mingkycarepro.site/medical</a:t>
            </a:r>
            <a:endParaRPr lang="ko-KR" sz="1050" dirty="0"/>
          </a:p>
        </p:txBody>
      </p:sp>
      <p:sp>
        <p:nvSpPr>
          <p:cNvPr id="5" name="Text 2"/>
          <p:cNvSpPr/>
          <p:nvPr/>
        </p:nvSpPr>
        <p:spPr>
          <a:xfrm>
            <a:off x="11256185" y="6507361"/>
            <a:ext cx="819824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736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발표 목차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785495" y="1442145"/>
            <a:ext cx="19050" cy="4631035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766446" y="1618655"/>
            <a:ext cx="330688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723485" y="1566168"/>
            <a:ext cx="124020" cy="124023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1447069" y="1498997"/>
            <a:ext cx="1008315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프로젝트 선택 이유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766446" y="2280047"/>
            <a:ext cx="330688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8" name="Shape 6"/>
          <p:cNvSpPr/>
          <p:nvPr/>
        </p:nvSpPr>
        <p:spPr>
          <a:xfrm>
            <a:off x="723485" y="2227560"/>
            <a:ext cx="124020" cy="124023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1447069" y="2160389"/>
            <a:ext cx="1008315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세 가지 주요 기능</a:t>
            </a:r>
            <a:endParaRPr lang="ko-KR" sz="1600" dirty="0"/>
          </a:p>
        </p:txBody>
      </p:sp>
      <p:sp>
        <p:nvSpPr>
          <p:cNvPr id="10" name="Text 8"/>
          <p:cNvSpPr/>
          <p:nvPr/>
        </p:nvSpPr>
        <p:spPr>
          <a:xfrm>
            <a:off x="1447069" y="2518073"/>
            <a:ext cx="10083151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Pinky 자율주행 — 병원 특화 안전·안내 주행    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OMX 모방학습 — 약국 조제 로봇팔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관제 대시보드 — 실시간 통합 모니터링</a:t>
            </a:r>
            <a:endParaRPr lang="ko-KR" sz="1300" dirty="0"/>
          </a:p>
        </p:txBody>
      </p:sp>
      <p:sp>
        <p:nvSpPr>
          <p:cNvPr id="11" name="Shape 9"/>
          <p:cNvSpPr/>
          <p:nvPr/>
        </p:nvSpPr>
        <p:spPr>
          <a:xfrm>
            <a:off x="766446" y="3934817"/>
            <a:ext cx="330688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723485" y="3882330"/>
            <a:ext cx="124020" cy="124023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1447069" y="3815159"/>
            <a:ext cx="1008315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로봇 시연 영상</a:t>
            </a:r>
            <a:endParaRPr lang="ko-KR" sz="1600" dirty="0"/>
          </a:p>
        </p:txBody>
      </p:sp>
      <p:sp>
        <p:nvSpPr>
          <p:cNvPr id="14" name="Shape 12"/>
          <p:cNvSpPr/>
          <p:nvPr/>
        </p:nvSpPr>
        <p:spPr>
          <a:xfrm>
            <a:off x="766446" y="4596209"/>
            <a:ext cx="330688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723485" y="4543723"/>
            <a:ext cx="124020" cy="124023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1447069" y="4476552"/>
            <a:ext cx="1008315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이슈 및 해결 과정</a:t>
            </a:r>
            <a:endParaRPr lang="ko-KR" sz="1600" dirty="0"/>
          </a:p>
        </p:txBody>
      </p:sp>
      <p:sp>
        <p:nvSpPr>
          <p:cNvPr id="17" name="Shape 15"/>
          <p:cNvSpPr/>
          <p:nvPr/>
        </p:nvSpPr>
        <p:spPr>
          <a:xfrm>
            <a:off x="766446" y="5257602"/>
            <a:ext cx="330688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723485" y="5205115"/>
            <a:ext cx="124020" cy="124023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1447069" y="5137944"/>
            <a:ext cx="1008315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느낀점</a:t>
            </a:r>
            <a:endParaRPr lang="ko-KR" sz="1600" dirty="0"/>
          </a:p>
        </p:txBody>
      </p:sp>
      <p:sp>
        <p:nvSpPr>
          <p:cNvPr id="20" name="Shape 18"/>
          <p:cNvSpPr/>
          <p:nvPr/>
        </p:nvSpPr>
        <p:spPr>
          <a:xfrm>
            <a:off x="766446" y="5918994"/>
            <a:ext cx="330688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23485" y="5866507"/>
            <a:ext cx="124020" cy="124023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1447069" y="5799336"/>
            <a:ext cx="1008315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 &amp; 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254895" y="6507361"/>
            <a:ext cx="821114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8851"/>
            <a:ext cx="10868745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0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왜 이 프로젝트를 선택했는가</a:t>
            </a:r>
            <a:endParaRPr lang="ko-KR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36675"/>
            <a:ext cx="7832033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대형병원의 불편함</a:t>
            </a:r>
            <a:endParaRPr lang="ko-KR" sz="2400" dirty="0"/>
          </a:p>
        </p:txBody>
      </p:sp>
      <p:sp>
        <p:nvSpPr>
          <p:cNvPr id="4" name="Text 2"/>
          <p:cNvSpPr/>
          <p:nvPr/>
        </p:nvSpPr>
        <p:spPr>
          <a:xfrm>
            <a:off x="661475" y="1869678"/>
            <a:ext cx="7832033" cy="1002605"/>
          </a:xfrm>
          <a:prstGeom prst="rect">
            <a:avLst/>
          </a:prstGeom>
          <a:noFill/>
          <a:ln/>
        </p:spPr>
        <p:txBody>
          <a:bodyPr wrap="square" lIns="0" tIns="77527" rIns="0" bIns="0" rtlCol="0" anchor="t">
            <a:normAutofit/>
          </a:bodyPr>
          <a:lstStyle/>
          <a:p>
            <a:pPr algn="l" marL="304800" indent="-304800">
              <a:lnSpc>
                <a:spcPct val="129000"/>
              </a:lnSpc>
              <a:buSzPct val="100000"/>
              <a:buChar char="•"/>
            </a:pPr>
            <a:r>
              <a:rPr lang="ko-KR" alt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진료과·검사실이 흩어져 있고 건물이 복잡 — 초진·고령 환자 동선 혼란</a:t>
            </a:r>
            <a:endParaRPr lang="ko-KR" sz="1500" dirty="0"/>
          </a:p>
          <a:p>
            <a:pPr algn="l" marL="304800" indent="-304800">
              <a:lnSpc>
                <a:spcPct val="129000"/>
              </a:lnSpc>
              <a:buSzPct val="100000"/>
              <a:buChar char="•"/>
            </a:pPr>
            <a:r>
              <a:rPr lang="ko-KR" alt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검사·진료·수납·약국 사이 이동에 대기보다 긴 시간 소요</a:t>
            </a:r>
            <a:endParaRPr lang="ko-KR" sz="1500" dirty="0"/>
          </a:p>
          <a:p>
            <a:pPr algn="l" marL="304800" indent="-304800">
              <a:lnSpc>
                <a:spcPct val="129000"/>
              </a:lnSpc>
              <a:buSzPct val="100000"/>
              <a:buChar char="•"/>
            </a:pPr>
            <a:r>
              <a:rPr lang="ko-KR" alt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약국은 반복 조제로 인력 부담</a:t>
            </a:r>
            <a:endParaRPr lang="ko-KR" sz="1500" dirty="0"/>
          </a:p>
        </p:txBody>
      </p:sp>
      <p:sp>
        <p:nvSpPr>
          <p:cNvPr id="5" name="Text 3"/>
          <p:cNvSpPr/>
          <p:nvPr/>
        </p:nvSpPr>
        <p:spPr>
          <a:xfrm>
            <a:off x="661475" y="3388717"/>
            <a:ext cx="7832033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우리의 개선점</a:t>
            </a:r>
            <a:endParaRPr lang="ko-KR" sz="2400" dirty="0"/>
          </a:p>
        </p:txBody>
      </p:sp>
      <p:sp>
        <p:nvSpPr>
          <p:cNvPr id="6" name="Text 4"/>
          <p:cNvSpPr/>
          <p:nvPr/>
        </p:nvSpPr>
        <p:spPr>
          <a:xfrm>
            <a:off x="661475" y="3921720"/>
            <a:ext cx="7832033" cy="1002605"/>
          </a:xfrm>
          <a:prstGeom prst="rect">
            <a:avLst/>
          </a:prstGeom>
          <a:noFill/>
          <a:ln/>
        </p:spPr>
        <p:txBody>
          <a:bodyPr wrap="square" lIns="0" tIns="77527" rIns="0" bIns="0" rtlCol="0" anchor="t">
            <a:normAutofit/>
          </a:bodyPr>
          <a:lstStyle/>
          <a:p>
            <a:pPr algn="l" marL="304800" indent="-304800">
              <a:lnSpc>
                <a:spcPct val="129000"/>
              </a:lnSpc>
              <a:buSzPct val="100000"/>
              <a:buChar char="•"/>
            </a:pPr>
            <a:r>
              <a:rPr lang="ko-KR" alt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진료 동선을 로봇이 안내</a:t>
            </a:r>
            <a:endParaRPr lang="ko-KR" sz="1500" dirty="0"/>
          </a:p>
          <a:p>
            <a:pPr algn="l" marL="304800" indent="-304800">
              <a:lnSpc>
                <a:spcPct val="129000"/>
              </a:lnSpc>
              <a:buSzPct val="100000"/>
              <a:buChar char="•"/>
            </a:pPr>
            <a:r>
              <a:rPr lang="ko-KR" alt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조제 과정을 모방학습으로 자동화</a:t>
            </a:r>
            <a:endParaRPr lang="ko-KR" sz="1500" dirty="0"/>
          </a:p>
          <a:p>
            <a:pPr algn="l" marL="304800" indent="-304800">
              <a:lnSpc>
                <a:spcPct val="129000"/>
              </a:lnSpc>
              <a:buSzPct val="100000"/>
              <a:buChar char="•"/>
            </a:pPr>
            <a:r>
              <a:rPr lang="ko-KR" alt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병원 전체 흐름을 웹으로 실시간 관제</a:t>
            </a:r>
            <a:endParaRPr lang="ko-KR" sz="1500" dirty="0"/>
          </a:p>
        </p:txBody>
      </p:sp>
      <p:sp>
        <p:nvSpPr>
          <p:cNvPr id="7" name="Shape 5"/>
          <p:cNvSpPr/>
          <p:nvPr/>
        </p:nvSpPr>
        <p:spPr>
          <a:xfrm>
            <a:off x="661475" y="5518944"/>
            <a:ext cx="7832033" cy="579239"/>
          </a:xfrm>
          <a:prstGeom prst="roundRect">
            <a:avLst>
              <a:gd name="adj" fmla="val 4015"/>
            </a:avLst>
          </a:prstGeom>
          <a:solidFill>
            <a:srgbClr val="AEE4B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451" y="5738813"/>
            <a:ext cx="193769" cy="1549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65196" y="5688409"/>
            <a:ext cx="7782921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ko-KR" alt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드라마 '폭싹 속았수다'의 한 장면으로 대학병원의 현실 문제가 많은 이들의 공감을 샀다. </a:t>
            </a:r>
            <a:endParaRPr lang="ko-KR" sz="1200" dirty="0"/>
          </a:p>
        </p:txBody>
      </p:sp>
      <p:pic>
        <p:nvPicPr>
          <p:cNvPr id="10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070" y="1354832"/>
            <a:ext cx="2658401" cy="27882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51522" y="6507361"/>
            <a:ext cx="824487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610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세 가지 주요 기능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640880"/>
            <a:ext cx="3512653" cy="4233466"/>
          </a:xfrm>
          <a:prstGeom prst="roundRect">
            <a:avLst>
              <a:gd name="adj" fmla="val 706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826769" y="1806178"/>
            <a:ext cx="496081" cy="496094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192" y="1942505"/>
            <a:ext cx="223237" cy="2232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6769" y="2467570"/>
            <a:ext cx="3182064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Pinky — 자율주행 안내</a:t>
            </a:r>
            <a:endParaRPr lang="ko-KR" sz="2600" dirty="0"/>
          </a:p>
        </p:txBody>
      </p:sp>
      <p:sp>
        <p:nvSpPr>
          <p:cNvPr id="7" name="Text 4"/>
          <p:cNvSpPr/>
          <p:nvPr/>
        </p:nvSpPr>
        <p:spPr>
          <a:xfrm>
            <a:off x="826769" y="3757513"/>
            <a:ext cx="3182064" cy="195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문제</a:t>
            </a:r>
            <a:endParaRPr lang="ko-KR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병원 구조가 복잡해 환자가 여러 검사실을 순서대로 찾아가기 어려움</a:t>
            </a:r>
            <a:endParaRPr lang="ko-KR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해결</a:t>
            </a:r>
            <a:endParaRPr lang="ko-KR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로봇이 당일 진료 일정에 따라 각 목적지까지 직접 안내</a:t>
            </a:r>
            <a:endParaRPr lang="ko-KR" sz="1300" dirty="0"/>
          </a:p>
        </p:txBody>
      </p:sp>
      <p:sp>
        <p:nvSpPr>
          <p:cNvPr id="8" name="Shape 5"/>
          <p:cNvSpPr/>
          <p:nvPr/>
        </p:nvSpPr>
        <p:spPr>
          <a:xfrm>
            <a:off x="4339422" y="1640880"/>
            <a:ext cx="3512752" cy="4233466"/>
          </a:xfrm>
          <a:prstGeom prst="roundRect">
            <a:avLst>
              <a:gd name="adj" fmla="val 706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4504716" y="1806178"/>
            <a:ext cx="496081" cy="496094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1139" y="1942505"/>
            <a:ext cx="223237" cy="2232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4716" y="2467570"/>
            <a:ext cx="3182163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OMX — 모방학습 조제</a:t>
            </a:r>
            <a:endParaRPr lang="ko-KR" sz="2600" dirty="0"/>
          </a:p>
        </p:txBody>
      </p:sp>
      <p:sp>
        <p:nvSpPr>
          <p:cNvPr id="12" name="Text 8"/>
          <p:cNvSpPr/>
          <p:nvPr/>
        </p:nvSpPr>
        <p:spPr>
          <a:xfrm>
            <a:off x="4504716" y="3344069"/>
            <a:ext cx="3182163" cy="205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문제</a:t>
            </a:r>
            <a:endParaRPr lang="ko-KR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약사가 매일 수백 건의 약통·봉투 조제·포장을 반복하다 보면 실수와 피로가 쌓임</a:t>
            </a:r>
            <a:endParaRPr lang="ko-KR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endParaRPr lang="ko-KR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해결</a:t>
            </a:r>
            <a:endParaRPr lang="ko-KR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로봇팔이 사람의 시연 동작을 학습해 조제·포장을 대신 수행</a:t>
            </a:r>
            <a:endParaRPr lang="ko-KR" sz="1300" dirty="0"/>
          </a:p>
        </p:txBody>
      </p:sp>
      <p:sp>
        <p:nvSpPr>
          <p:cNvPr id="13" name="Shape 9"/>
          <p:cNvSpPr/>
          <p:nvPr/>
        </p:nvSpPr>
        <p:spPr>
          <a:xfrm>
            <a:off x="8017468" y="1640880"/>
            <a:ext cx="3512653" cy="4233466"/>
          </a:xfrm>
          <a:prstGeom prst="roundRect">
            <a:avLst>
              <a:gd name="adj" fmla="val 706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8182762" y="1806178"/>
            <a:ext cx="496081" cy="496094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9185" y="1942505"/>
            <a:ext cx="223237" cy="2232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82762" y="2467570"/>
            <a:ext cx="3182064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관제 대시보드</a:t>
            </a:r>
            <a:endParaRPr lang="ko-KR" sz="2600" dirty="0"/>
          </a:p>
        </p:txBody>
      </p:sp>
      <p:sp>
        <p:nvSpPr>
          <p:cNvPr id="17" name="Text 12"/>
          <p:cNvSpPr/>
          <p:nvPr/>
        </p:nvSpPr>
        <p:spPr>
          <a:xfrm>
            <a:off x="8182762" y="3344069"/>
            <a:ext cx="3182064" cy="205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문제</a:t>
            </a:r>
            <a:endParaRPr lang="ko-KR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로봇이 지금 어디에 있고 환자가 어디까지 진행됐는지 매번 현장에 가야 확인 가능</a:t>
            </a:r>
            <a:endParaRPr lang="ko-KR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endParaRPr lang="ko-KR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해결</a:t>
            </a:r>
            <a:endParaRPr lang="ko-KR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웹 화면 하나로 로봇 위치·환자 진행·이벤트를 실시간 통합 관제</a:t>
            </a:r>
            <a:endParaRPr lang="ko-KR" sz="1300" dirty="0"/>
          </a:p>
        </p:txBody>
      </p:sp>
      <p:sp>
        <p:nvSpPr>
          <p:cNvPr id="18" name="Text 13"/>
          <p:cNvSpPr/>
          <p:nvPr/>
        </p:nvSpPr>
        <p:spPr>
          <a:xfrm>
            <a:off x="11257673" y="6507361"/>
            <a:ext cx="818336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462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기술 스택 개요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102048"/>
            <a:ext cx="5351725" cy="1614289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826769" y="2267347"/>
            <a:ext cx="496081" cy="496094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192" y="2403673"/>
            <a:ext cx="223237" cy="2232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6769" y="2928739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로봇 자율주행</a:t>
            </a:r>
            <a:endParaRPr lang="ko-KR" sz="1600" dirty="0"/>
          </a:p>
        </p:txBody>
      </p:sp>
      <p:sp>
        <p:nvSpPr>
          <p:cNvPr id="7" name="Text 4"/>
          <p:cNvSpPr/>
          <p:nvPr/>
        </p:nvSpPr>
        <p:spPr>
          <a:xfrm>
            <a:off x="826769" y="3286423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ROS2 Jazzy · Nav2 · SLAM Toolbox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8495" y="2102048"/>
            <a:ext cx="5351725" cy="1614289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6343789" y="2267347"/>
            <a:ext cx="496081" cy="496094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0211" y="2403673"/>
            <a:ext cx="223237" cy="2232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43789" y="2928739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로봇팔 · 모방학습</a:t>
            </a:r>
            <a:endParaRPr lang="ko-KR" sz="1600" dirty="0"/>
          </a:p>
        </p:txBody>
      </p:sp>
      <p:sp>
        <p:nvSpPr>
          <p:cNvPr id="12" name="Text 8"/>
          <p:cNvSpPr/>
          <p:nvPr/>
        </p:nvSpPr>
        <p:spPr>
          <a:xfrm>
            <a:off x="6343789" y="3286423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OpenManipulator-X · LeRobot · Dynamixel SDK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61475" y="3881636"/>
            <a:ext cx="5351725" cy="1614289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826769" y="4046934"/>
            <a:ext cx="496081" cy="496094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192" y="4183261"/>
            <a:ext cx="223237" cy="2232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6769" y="4708327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웹 · 데이터</a:t>
            </a:r>
            <a:endParaRPr lang="ko-KR" sz="1600" dirty="0"/>
          </a:p>
        </p:txBody>
      </p:sp>
      <p:sp>
        <p:nvSpPr>
          <p:cNvPr id="17" name="Text 12"/>
          <p:cNvSpPr/>
          <p:nvPr/>
        </p:nvSpPr>
        <p:spPr>
          <a:xfrm>
            <a:off x="826769" y="5066010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FastAPI · React 19 · PostgreSQL · Three.js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78495" y="3881636"/>
            <a:ext cx="5351725" cy="1614289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6343789" y="4046934"/>
            <a:ext cx="496081" cy="496094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0211" y="4183261"/>
            <a:ext cx="223237" cy="2232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43789" y="4708327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인프라 · 배포</a:t>
            </a:r>
            <a:endParaRPr lang="ko-KR" sz="1600" dirty="0"/>
          </a:p>
        </p:txBody>
      </p:sp>
      <p:sp>
        <p:nvSpPr>
          <p:cNvPr id="22" name="Text 16"/>
          <p:cNvSpPr/>
          <p:nvPr/>
        </p:nvSpPr>
        <p:spPr>
          <a:xfrm>
            <a:off x="6343789" y="5066010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Docker Compose · Nginx · GitHub Actions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254597" y="6507361"/>
            <a:ext cx="821411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8192"/>
            <a:ext cx="10868745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9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시스템 아키텍처</a:t>
            </a:r>
            <a:endParaRPr lang="ko-KR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98265"/>
            <a:ext cx="10868745" cy="43312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82357"/>
            <a:ext cx="10868745" cy="60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1200"/>
              </a:spcAft>
              <a:buNone/>
            </a:pP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261344" y="6507361"/>
            <a:ext cx="814665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038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병원 안내 로봇 시나리오</a:t>
            </a:r>
            <a:endParaRPr lang="ko-KR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87810"/>
            <a:ext cx="10868745" cy="28043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678164"/>
            <a:ext cx="10868745" cy="123199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환자는 접수 후 QR 카드를 로봇에 인식시키는 것으로 세션이 시작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이후 검사실 순차 안내 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진료 완료 판정 → 외래는 약국(OMX 조제) · 입원은 병동 안내로 분기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모든 안내가 끝나면 로봇은 충전소로 자동 복귀</a:t>
            </a:r>
            <a:endParaRPr lang="ko-KR" sz="1300" dirty="0"/>
          </a:p>
        </p:txBody>
      </p:sp>
      <p:sp>
        <p:nvSpPr>
          <p:cNvPr id="5" name="Text 2"/>
          <p:cNvSpPr/>
          <p:nvPr/>
        </p:nvSpPr>
        <p:spPr>
          <a:xfrm>
            <a:off x="11254697" y="6507361"/>
            <a:ext cx="821312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1972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주요 기능 1.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984500"/>
            <a:ext cx="10868745" cy="1033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65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Pinky 자율주행 </a:t>
            </a:r>
            <a:endParaRPr lang="ko-KR" sz="6500" dirty="0"/>
          </a:p>
        </p:txBody>
      </p:sp>
      <p:sp>
        <p:nvSpPr>
          <p:cNvPr id="4" name="Text 2"/>
          <p:cNvSpPr/>
          <p:nvPr/>
        </p:nvSpPr>
        <p:spPr>
          <a:xfrm>
            <a:off x="11254597" y="6507361"/>
            <a:ext cx="821411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2321"/>
            <a:ext cx="10868745" cy="47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0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초기 위치 추정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319609"/>
            <a:ext cx="11478330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로봇이 자신의 정확한 위치와 방향을 파악하는 방법은 끊임없이 진화해 왔습니다.</a:t>
            </a:r>
            <a:endParaRPr lang="ko-KR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12119"/>
            <a:ext cx="10868745" cy="1453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1020" y="2295723"/>
            <a:ext cx="228693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30798" y="1883569"/>
            <a:ext cx="9927977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기존: 수동 초기 위치 설정</a:t>
            </a:r>
            <a:endParaRPr lang="ko-KR" sz="1500" dirty="0"/>
          </a:p>
        </p:txBody>
      </p:sp>
      <p:sp>
        <p:nvSpPr>
          <p:cNvPr id="7" name="Text 4"/>
          <p:cNvSpPr/>
          <p:nvPr/>
        </p:nvSpPr>
        <p:spPr>
          <a:xfrm>
            <a:off x="1430798" y="2206129"/>
            <a:ext cx="9927977" cy="7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spcAft>
                <a:spcPts val="650"/>
              </a:spcAft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RViz의 「2D Pose Estimate」 기능을 활용하여 운영자가 지도에서 로봇의 위치와 방향을 직접 지정하는 방식입니다.</a:t>
            </a:r>
            <a:endParaRPr lang="ko-KR" sz="12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조작자의 판단에 전적으로 의존하기 때문에 개인 오차가 발생하기 쉽고, 반복 작업 시 일관성을 유지하기 어렵습니다. 환경이 복잡할수록 정확한 초기 위치 지정이 더욱 어려워집니다.</a:t>
            </a:r>
            <a:endParaRPr lang="ko-KR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305770"/>
            <a:ext cx="10868745" cy="14531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1020" y="3889375"/>
            <a:ext cx="228693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430798" y="3477220"/>
            <a:ext cx="9927977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1차 자동화: AMCL 자동 재탐색</a:t>
            </a:r>
            <a:endParaRPr lang="ko-KR" sz="1500" dirty="0"/>
          </a:p>
        </p:txBody>
      </p:sp>
      <p:sp>
        <p:nvSpPr>
          <p:cNvPr id="11" name="Text 7"/>
          <p:cNvSpPr/>
          <p:nvPr/>
        </p:nvSpPr>
        <p:spPr>
          <a:xfrm>
            <a:off x="1430798" y="3799780"/>
            <a:ext cx="9927977" cy="7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spcAft>
                <a:spcPts val="650"/>
              </a:spcAft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AMCL(Adaptive Monte Carlo Localization) 알고리즘을 적용하여 파티클 필터 기반으로 위치를 자동 추정합니다. 파티클이 한 곳에 수렴하면 위치를 찾았다고 판단합니다.</a:t>
            </a:r>
            <a:endParaRPr lang="ko-KR" sz="12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구조가 유사한 복도 환경에서는 잘못된 위치에도 파티클이 수렴할 수 있으며, 위치 구분을 위해 로봇의 이동 범위가 커지는 문제가 있습니다.</a:t>
            </a:r>
            <a:endParaRPr lang="ko-KR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899422"/>
            <a:ext cx="10868745" cy="12187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1020" y="5365849"/>
            <a:ext cx="228693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430798" y="5070872"/>
            <a:ext cx="9927977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현재: LiDAR 기반 전역 위치 재탐색</a:t>
            </a:r>
            <a:endParaRPr lang="ko-KR" sz="1500" dirty="0"/>
          </a:p>
        </p:txBody>
      </p:sp>
      <p:sp>
        <p:nvSpPr>
          <p:cNvPr id="15" name="Text 10"/>
          <p:cNvSpPr/>
          <p:nvPr/>
        </p:nvSpPr>
        <p:spPr>
          <a:xfrm>
            <a:off x="1430798" y="5393432"/>
            <a:ext cx="9927977" cy="553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spcAft>
                <a:spcPts val="650"/>
              </a:spcAft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현재 LiDAR 스캔 데이터와 기존 지도를 직접 비교하여 전역적으로 위치를 탐색합니다. 여러 위치 후보 중 가장 확실한 위치만 선택합니다.</a:t>
            </a:r>
            <a:endParaRPr lang="ko-KR" sz="12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확신할 수 없는 경우 잘못된 위치를 적용하지 않아 안전성을 높입니다. "파티클이 모였는가"가 아닌 "실제 지도와 일치하는가"를 기준으로 위치를 판단합니다.</a:t>
            </a:r>
            <a:endParaRPr lang="ko-KR" sz="1200" dirty="0"/>
          </a:p>
        </p:txBody>
      </p:sp>
      <p:sp>
        <p:nvSpPr>
          <p:cNvPr id="16" name="Text 11"/>
          <p:cNvSpPr/>
          <p:nvPr/>
        </p:nvSpPr>
        <p:spPr>
          <a:xfrm>
            <a:off x="11204791" y="6507361"/>
            <a:ext cx="871218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5399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8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LiDAR 기반 전역 위치 재탐색 기술</a:t>
            </a:r>
            <a:endParaRPr lang="ko-KR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251446"/>
            <a:ext cx="5194071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전역 Scan Matching</a:t>
            </a:r>
            <a:endParaRPr lang="ko-KR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582440"/>
            <a:ext cx="4584486" cy="1001117"/>
          </a:xfrm>
          <a:prstGeom prst="rect">
            <a:avLst/>
          </a:prstGeom>
          <a:noFill/>
          <a:ln/>
        </p:spPr>
        <p:txBody>
          <a:bodyPr wrap="square" lIns="0" tIns="57887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후보 위치에 로봇과 LiDAR를 가상으로 배치</a:t>
            </a:r>
            <a:endParaRPr lang="ko-KR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LiDAR 끝점이 지도 벽에 가까울수록 높은 점수</a:t>
            </a:r>
            <a:endParaRPr lang="ko-KR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광선 중간에 벽이 있으면 모순으로 판단해 감점</a:t>
            </a:r>
            <a:endParaRPr lang="ko-KR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전체 지도를 거칠게 탐색한 뒤 상위 후보만 정밀 분석</a:t>
            </a:r>
            <a:endParaRPr lang="ko-KR" sz="1100" dirty="0"/>
          </a:p>
        </p:txBody>
      </p:sp>
      <p:sp>
        <p:nvSpPr>
          <p:cNvPr id="5" name="Text 3"/>
          <p:cNvSpPr/>
          <p:nvPr/>
        </p:nvSpPr>
        <p:spPr>
          <a:xfrm>
            <a:off x="661475" y="2697460"/>
            <a:ext cx="5194071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다중 후보 검증</a:t>
            </a:r>
            <a:endParaRPr lang="ko-KR" sz="1100" dirty="0"/>
          </a:p>
        </p:txBody>
      </p:sp>
      <p:sp>
        <p:nvSpPr>
          <p:cNvPr id="6" name="Text 4"/>
          <p:cNvSpPr/>
          <p:nvPr/>
        </p:nvSpPr>
        <p:spPr>
          <a:xfrm>
            <a:off x="661475" y="3028454"/>
            <a:ext cx="4584486" cy="739775"/>
          </a:xfrm>
          <a:prstGeom prst="rect">
            <a:avLst/>
          </a:prstGeom>
          <a:noFill/>
          <a:ln/>
        </p:spPr>
        <p:txBody>
          <a:bodyPr wrap="square" lIns="0" tIns="57887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Top-1 점수와 Top-2 점수 차이 확인</a:t>
            </a:r>
            <a:endParaRPr lang="ko-KR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비슷한 후보가 남으면 위치 확정 보류</a:t>
            </a:r>
            <a:endParaRPr lang="ko-KR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연속된 두 개 이상의 LiDAR 관측으로 재검증</a:t>
            </a:r>
            <a:endParaRPr lang="ko-KR" sz="1100" dirty="0"/>
          </a:p>
        </p:txBody>
      </p:sp>
      <p:sp>
        <p:nvSpPr>
          <p:cNvPr id="7" name="Text 5"/>
          <p:cNvSpPr/>
          <p:nvPr/>
        </p:nvSpPr>
        <p:spPr>
          <a:xfrm>
            <a:off x="661475" y="3882132"/>
            <a:ext cx="5194071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Active Localization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1475" y="4213126"/>
            <a:ext cx="4584486" cy="739775"/>
          </a:xfrm>
          <a:prstGeom prst="rect">
            <a:avLst/>
          </a:prstGeom>
          <a:noFill/>
          <a:ln/>
        </p:spPr>
        <p:txBody>
          <a:bodyPr wrap="square" lIns="0" tIns="57887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후보가 애매하면 안전한 앞·뒤 방향으로 5cm 이동</a:t>
            </a:r>
            <a:endParaRPr lang="ko-KR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최대 15cm 범위에서 새로운 관측 확보</a:t>
            </a:r>
            <a:endParaRPr lang="ko-KR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오도메트리로 이동량을 추적하며 후보 제거</a:t>
            </a:r>
            <a:endParaRPr lang="ko-KR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322" y="1279922"/>
            <a:ext cx="3436455" cy="483284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231480" y="6507361"/>
            <a:ext cx="844529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6469"/>
            <a:ext cx="5908924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정해진 복구 행동에서 상황 적응형 복구로 (Adaptive Recovery)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55230"/>
            <a:ext cx="590892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단순히 가장 넓은 방향을 선택하는 것이 아니라, 목적지로 가기 유리한지와 필요한 회전량, 이전에 같은 방향으로 실패했는지까지 함께 점수화합니다.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980162" y="977205"/>
            <a:ext cx="4556309" cy="909439"/>
          </a:xfrm>
          <a:prstGeom prst="roundRect">
            <a:avLst>
              <a:gd name="adj" fmla="val 2728"/>
            </a:avLst>
          </a:prstGeom>
          <a:solidFill>
            <a:srgbClr val="DBF0D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5456" y="1229618"/>
            <a:ext cx="206667" cy="1652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7418" y="1167309"/>
            <a:ext cx="385375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복구의 목표를 ‘정해진 행동 수행’에서 ‘원래 목적지로 다시 갈 수 있는 위치 확보’로 변경했습니다.</a:t>
            </a:r>
            <a:endParaRPr lang="ko-KR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019326"/>
            <a:ext cx="10868745" cy="2940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08164" y="6507361"/>
            <a:ext cx="867845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196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환자를 두고 가지 않는 동행형 안내 주행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5939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후방 카메라로 환자를 확인하고, 거리에 따라 안내 속도를 자동 조절합니다.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810048"/>
            <a:ext cx="10868745" cy="2127052"/>
          </a:xfrm>
          <a:prstGeom prst="roundRect">
            <a:avLst>
              <a:gd name="adj" fmla="val 1166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1810048"/>
            <a:ext cx="3622882" cy="2127052"/>
          </a:xfrm>
          <a:custGeom>
            <a:avLst/>
            <a:gdLst/>
            <a:ahLst/>
            <a:cxnLst/>
            <a:rect l="l" t="t" r="r" b="b"/>
            <a:pathLst>
              <a:path w="3622882" h="2127052">
                <a:moveTo>
                  <a:pt x="20674" y="0"/>
                </a:moveTo>
                <a:lnTo>
                  <a:pt x="3622882" y="0"/>
                </a:lnTo>
                <a:lnTo>
                  <a:pt x="3622882" y="2127052"/>
                </a:lnTo>
                <a:lnTo>
                  <a:pt x="20674" y="2127052"/>
                </a:lnTo>
                <a:arcTo hR="20674" wR="20674" stAng="5400000" swAng="5400000"/>
                <a:lnTo>
                  <a:pt x="0" y="20674"/>
                </a:lnTo>
                <a:arcTo hR="20674" wR="20674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26769" y="1975346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QR 역할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826769" y="2333030"/>
            <a:ext cx="3292293" cy="1174155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QR 내용으로 현재 안내 환자 ID 확인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실제 QR 크기와 카메라 보정값으로 거리 측정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YOLO 거리 추정의 기준점 제공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4284357" y="1810048"/>
            <a:ext cx="3622882" cy="212705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4284357" y="1810048"/>
            <a:ext cx="19050" cy="2127052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4449651" y="1975346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YOLO 역할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4449651" y="2333030"/>
            <a:ext cx="3292293" cy="1174155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QR이 가려져도 환자 인형을 연속 추적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인형의 실제 높이와 박스 높이로 거리 추정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같은 클래스와 화면상 이동 연속성으로 다른 인형 전환 방지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7907239" y="1810048"/>
            <a:ext cx="3622882" cy="2127052"/>
          </a:xfrm>
          <a:custGeom>
            <a:avLst/>
            <a:gdLst/>
            <a:ahLst/>
            <a:cxnLst/>
            <a:rect l="l" t="t" r="r" b="b"/>
            <a:pathLst>
              <a:path w="3622882" h="2127052">
                <a:moveTo>
                  <a:pt x="0" y="0"/>
                </a:moveTo>
                <a:lnTo>
                  <a:pt x="3602208" y="0"/>
                </a:lnTo>
                <a:arcTo hR="20674" wR="20674" stAng="16200000" swAng="5400000"/>
                <a:lnTo>
                  <a:pt x="3622882" y="2106377"/>
                </a:lnTo>
                <a:arcTo hR="20674" wR="20674" stAng="0" swAng="5400000"/>
                <a:lnTo>
                  <a:pt x="0" y="2127052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07239" y="1810048"/>
            <a:ext cx="19050" cy="2127052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8072533" y="1975346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순간 흔들림 대응</a:t>
            </a:r>
            <a:endParaRPr lang="ko-KR" sz="1600" dirty="0"/>
          </a:p>
        </p:txBody>
      </p:sp>
      <p:sp>
        <p:nvSpPr>
          <p:cNvPr id="15" name="Text 13"/>
          <p:cNvSpPr/>
          <p:nvPr/>
        </p:nvSpPr>
        <p:spPr>
          <a:xfrm>
            <a:off x="8072533" y="2333030"/>
            <a:ext cx="3292293" cy="1438771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1~2초 인식 유실은 기존 상태 유지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출발 직후 최대 4초 동안 환자 시야 확보 유예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20초 동안 환자를 못 찾으면 안내 종료 후 충전소 복귀</a:t>
            </a:r>
            <a:endParaRPr lang="ko-KR" sz="1300" dirty="0"/>
          </a:p>
        </p:txBody>
      </p:sp>
      <p:sp>
        <p:nvSpPr>
          <p:cNvPr id="16" name="Shape 14"/>
          <p:cNvSpPr/>
          <p:nvPr/>
        </p:nvSpPr>
        <p:spPr>
          <a:xfrm>
            <a:off x="542415" y="4573786"/>
            <a:ext cx="5019847" cy="1664692"/>
          </a:xfrm>
          <a:prstGeom prst="roundRect">
            <a:avLst>
              <a:gd name="adj" fmla="val 1490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402917" y="4722614"/>
            <a:ext cx="529884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도식 요약</a:t>
            </a:r>
            <a:endParaRPr lang="ko-KR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710" y="5173266"/>
            <a:ext cx="4689258" cy="87917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852966" y="4722614"/>
            <a:ext cx="568350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로봇이 환자를 따라가는 것이 아니라, </a:t>
            </a:r>
            <a:endParaRPr lang="ko-KR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환자가 따라올 수 있도록 로봇이 보행 속도를 맞춥니다.</a:t>
            </a:r>
            <a:endParaRPr lang="ko-KR" sz="1300" dirty="0"/>
          </a:p>
        </p:txBody>
      </p:sp>
      <p:sp>
        <p:nvSpPr>
          <p:cNvPr id="20" name="Text 17"/>
          <p:cNvSpPr/>
          <p:nvPr/>
        </p:nvSpPr>
        <p:spPr>
          <a:xfrm>
            <a:off x="11206974" y="6507361"/>
            <a:ext cx="869035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0934"/>
            <a:ext cx="10868745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9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동적 장애물 회피를 위한 다단계 주행 제어</a:t>
            </a:r>
            <a:endParaRPr lang="ko-KR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26841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64646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30462"/>
            <a:ext cx="4739164" cy="412551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5053" y="1630462"/>
            <a:ext cx="2557795" cy="20390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30117" y="1799332"/>
            <a:ext cx="2143865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MPPI — 가까운 장애물 즉시 회피</a:t>
            </a:r>
            <a:endParaRPr lang="ko-KR" sz="1450" dirty="0"/>
          </a:p>
        </p:txBody>
      </p:sp>
      <p:sp>
        <p:nvSpPr>
          <p:cNvPr id="7" name="Text 3"/>
          <p:cNvSpPr/>
          <p:nvPr/>
        </p:nvSpPr>
        <p:spPr>
          <a:xfrm>
            <a:off x="6530117" y="2403475"/>
            <a:ext cx="2143865" cy="914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2초 앞의 로봇 이동 궤적 200개를 비교해 가장 안전한 속도를 선택합니다. 충돌 위험·경로 이탈·목적지 방향을 점수화 필요하면 기존 경로에서 잠시 벗어나 장애물 회피 10Hz로 반복해 새 LiDAR 장애물 반영</a:t>
            </a:r>
            <a:endParaRPr lang="ko-KR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78675" y="1630462"/>
            <a:ext cx="2557895" cy="203904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23740" y="1799332"/>
            <a:ext cx="2143964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SmacPlanner2D — </a:t>
            </a:r>
            <a:endParaRPr lang="ko-KR" sz="14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전체 우회 경로 재탐색</a:t>
            </a:r>
            <a:endParaRPr lang="ko-KR" sz="1450" dirty="0"/>
          </a:p>
        </p:txBody>
      </p:sp>
      <p:sp>
        <p:nvSpPr>
          <p:cNvPr id="10" name="Text 5"/>
          <p:cNvSpPr/>
          <p:nvPr/>
        </p:nvSpPr>
        <p:spPr>
          <a:xfrm>
            <a:off x="9223740" y="2403475"/>
            <a:ext cx="2143964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가까운 범위에서 피할 수 없으면 다른 통로까지 포함해 경로를 다시 찾습니다. 거리와 Costmap의 장애물 비용을 함께 계산 최단 경로보다 장애물과 여유 있는 경로 선호 제자리 회전이 가능한 핑키에 적합한 2D A* 사용</a:t>
            </a:r>
            <a:endParaRPr lang="ko-KR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5053" y="3805337"/>
            <a:ext cx="2557795" cy="18561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30117" y="3974207"/>
            <a:ext cx="2143865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Rotation Shim — 경로 방향으로 먼저 정렬</a:t>
            </a:r>
            <a:endParaRPr lang="ko-KR" sz="1450" dirty="0"/>
          </a:p>
        </p:txBody>
      </p:sp>
      <p:sp>
        <p:nvSpPr>
          <p:cNvPr id="13" name="Text 7"/>
          <p:cNvSpPr/>
          <p:nvPr/>
        </p:nvSpPr>
        <p:spPr>
          <a:xfrm>
            <a:off x="6530117" y="4578350"/>
            <a:ext cx="2143865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새 경로와 로봇 방향이 크게 다르면 제자리 회전 후 MPPI에 제어를 전달합니다. 큰 원을 그리며 경로에 진입하는 현상 방지 후진하지 않고 방향을 맞춘 뒤 전진</a:t>
            </a:r>
            <a:endParaRPr lang="ko-KR" sz="9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78675" y="3805337"/>
            <a:ext cx="2557895" cy="185618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223740" y="3974207"/>
            <a:ext cx="2143964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Adaptive Recovery—</a:t>
            </a:r>
            <a:endParaRPr lang="ko-KR" sz="14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탈출 후 원래 목표 재시도</a:t>
            </a:r>
            <a:endParaRPr lang="ko-KR" sz="1450" dirty="0"/>
          </a:p>
        </p:txBody>
      </p:sp>
      <p:sp>
        <p:nvSpPr>
          <p:cNvPr id="16" name="Text 9"/>
          <p:cNvSpPr/>
          <p:nvPr/>
        </p:nvSpPr>
        <p:spPr>
          <a:xfrm>
            <a:off x="9223740" y="4578350"/>
            <a:ext cx="2143964" cy="914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경로 생성과 추종이 모두 실패하면 주변의 안전한 탈출 지점을 찾습니다. LiDAR 24방향에서 탈출 후보 생성 Nav2 경로 검증을 통과한 후보만 사용 임시 지점 이동 후 원래 목적지 재시도</a:t>
            </a:r>
            <a:endParaRPr lang="ko-KR" sz="900" dirty="0"/>
          </a:p>
        </p:txBody>
      </p:sp>
      <p:sp>
        <p:nvSpPr>
          <p:cNvPr id="17" name="Text 10"/>
          <p:cNvSpPr/>
          <p:nvPr/>
        </p:nvSpPr>
        <p:spPr>
          <a:xfrm>
            <a:off x="11203501" y="6507361"/>
            <a:ext cx="872508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7802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저상 장애물 회피 기능</a:t>
            </a:r>
            <a:endParaRPr lang="ko-KR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79314"/>
            <a:ext cx="9106268" cy="47250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09652" y="6507361"/>
            <a:ext cx="866356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371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주요 기능 2.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18494"/>
            <a:ext cx="10868745" cy="1033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65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OMX 모방학습</a:t>
            </a:r>
            <a:endParaRPr lang="ko-KR" sz="6500" dirty="0"/>
          </a:p>
        </p:txBody>
      </p:sp>
      <p:sp>
        <p:nvSpPr>
          <p:cNvPr id="4" name="Text 2"/>
          <p:cNvSpPr/>
          <p:nvPr/>
        </p:nvSpPr>
        <p:spPr>
          <a:xfrm>
            <a:off x="661475" y="3200202"/>
            <a:ext cx="1147833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6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OMX 내용 정리 문서</a:t>
            </a:r>
            <a:endParaRPr lang="ko-KR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717032"/>
            <a:ext cx="1879652" cy="18796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6577" y="6507361"/>
            <a:ext cx="869432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5655"/>
            <a:ext cx="10868745" cy="47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0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알약 조제 모방학습 — 설계와 데이터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303437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과제와 설계 원칙</a:t>
            </a:r>
            <a:endParaRPr lang="ko-KR" sz="1500" dirty="0"/>
          </a:p>
        </p:txBody>
      </p:sp>
      <p:sp>
        <p:nvSpPr>
          <p:cNvPr id="4" name="Text 2"/>
          <p:cNvSpPr/>
          <p:nvPr/>
        </p:nvSpPr>
        <p:spPr>
          <a:xfrm>
            <a:off x="661475" y="1682155"/>
            <a:ext cx="5248441" cy="1919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spcAft>
                <a:spcPts val="950"/>
              </a:spcAft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트레이에 섞인 알약 3종 중 지정된 색만 골라 약통에 담는다.</a:t>
            </a:r>
            <a:endParaRPr lang="ko-KR" sz="1200" dirty="0"/>
          </a:p>
          <a:p>
            <a:pPr algn="l" indent="0" marL="0">
              <a:lnSpc>
                <a:spcPct val="128000"/>
              </a:lnSpc>
              <a:spcAft>
                <a:spcPts val="950"/>
              </a:spcAft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위치만 보고 집는 로봇은 그 자리에 무엇이 놓여 있든 그대로 집는다. 사람이 실수로 다른 약을 올려놓아도 확인 없이 담기고, 조제에서 그런 실수는 그대로 환자에게 간다. 그래서 자리를 외우는 대신 매 회차 트레이를 보고 지정된 약이 맞는지 확인한 뒤 집도록 설계했다.</a:t>
            </a:r>
            <a:endParaRPr lang="ko-KR" sz="12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그러려면 위치가 단서가 되면 안 된다. 알약 3종을 항상 한 트레이에 섞어 두고, </a:t>
            </a:r>
            <a:pPr algn="l" indent="0" marL="0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5×4 격자 20칸</a:t>
            </a:r>
            <a:pPr algn="l" indent="0" marL="0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과 </a:t>
            </a:r>
            <a:pPr algn="l" indent="0" marL="0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8방향 각도</a:t>
            </a:r>
            <a:pPr algn="l" indent="0" marL="0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를 난수로 조합한 배치표를 색마다 따로 생성해 촬영했다.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6288129" y="1303437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데이터 수집</a:t>
            </a:r>
            <a:endParaRPr lang="ko-KR" sz="1500" dirty="0"/>
          </a:p>
        </p:txBody>
      </p:sp>
      <p:sp>
        <p:nvSpPr>
          <p:cNvPr id="6" name="Text 4"/>
          <p:cNvSpPr/>
          <p:nvPr/>
        </p:nvSpPr>
        <p:spPr>
          <a:xfrm>
            <a:off x="6288129" y="1682155"/>
            <a:ext cx="5248441" cy="2154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spcAft>
                <a:spcPts val="950"/>
              </a:spcAft>
              <a:buNone/>
            </a:pPr>
            <a:r>
              <a:rPr lang="ko-KR" alt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LeRobot v0.4.4</a:t>
            </a:r>
            <a:pPr algn="l" indent="0" marL="0">
              <a:lnSpc>
                <a:spcPct val="128000"/>
              </a:lnSpc>
              <a:spcAft>
                <a:spcPts val="950"/>
              </a:spcAft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기반 리더-팔로워 텔레오퍼레이션으로 시연 224개를 직접 촬영했다. 오버헤드와 손목 카메라 2대를 쓴다.</a:t>
            </a:r>
            <a:endParaRPr lang="ko-KR" sz="1200" dirty="0"/>
          </a:p>
          <a:p>
            <a:pPr algn="l" indent="0" marL="0">
              <a:lnSpc>
                <a:spcPct val="128000"/>
              </a:lnSpc>
              <a:spcAft>
                <a:spcPts val="950"/>
              </a:spcAft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초기 96개는 배치마다 정답이 하나뿐이라 화면만 외워도 손실이 0이 됐다. 같은 배치를 그대로 두고 목표만 빨강·초록·노랑으로 바꿔 세 번 찍는 방식으로 128개를 추가했다.</a:t>
            </a:r>
            <a:endParaRPr lang="ko-KR" sz="12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목표 색이 트레이에 없을 때 멈추도록 정지 시연 32개를 별도로 촬영했다. 홈 근처에서 </a:t>
            </a:r>
            <a:pPr algn="l" indent="0" marL="0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HSV</a:t>
            </a:r>
            <a:pPr algn="l" indent="0" marL="0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 트레이를 확인하는 안전장치를 붙여, 정상 집기를 막은 경우 0/48, 정지 실패 0/32를 기록했다.</a:t>
            </a:r>
            <a:endParaRPr lang="ko-KR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825" y="4220170"/>
            <a:ext cx="3537358" cy="156279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119" y="4220170"/>
            <a:ext cx="3537358" cy="156279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413" y="4220170"/>
            <a:ext cx="3537358" cy="15627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6040438"/>
            <a:ext cx="11478330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촬영 전에 미리 뽑아둔 배치표. 화살표 하나가 에피소드 하나이고, 방향은 알약의 색깔 있는 끝이 향할 각도다.</a:t>
            </a:r>
            <a:endParaRPr lang="ko-KR" sz="1200" dirty="0"/>
          </a:p>
        </p:txBody>
      </p:sp>
      <p:sp>
        <p:nvSpPr>
          <p:cNvPr id="11" name="Text 6"/>
          <p:cNvSpPr/>
          <p:nvPr/>
        </p:nvSpPr>
        <p:spPr>
          <a:xfrm>
            <a:off x="11213323" y="6507361"/>
            <a:ext cx="862685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411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알약 조제 모방학습 — 정책 비교와 결과</a:t>
            </a:r>
            <a:endParaRPr lang="ko-KR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1538"/>
            <a:ext cx="10868745" cy="38041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6172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문제 — 같은 장면에서 지시만 빨강·초록·노랑으로 바꿨는데 세 번 다 노랑을 집었다. 자기색 대비 1.00, 목표를 완전히 무시한 상태다.</a:t>
            </a:r>
            <a:endParaRPr lang="ko-KR" sz="1300" dirty="0"/>
          </a:p>
        </p:txBody>
      </p:sp>
      <p:sp>
        <p:nvSpPr>
          <p:cNvPr id="5" name="Text 2"/>
          <p:cNvSpPr/>
          <p:nvPr/>
        </p:nvSpPr>
        <p:spPr>
          <a:xfrm>
            <a:off x="11206676" y="6507361"/>
            <a:ext cx="869333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329" y="805954"/>
            <a:ext cx="9818938" cy="14342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04579"/>
            <a:ext cx="11478330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해결 — </a:t>
            </a:r>
            <a:pPr algn="l" indent="0" marL="0">
              <a:lnSpc>
                <a:spcPct val="129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act_xy_224</a:t>
            </a:r>
            <a:pPr algn="l" indent="0" marL="0">
              <a:lnSpc>
                <a:spcPct val="129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가 지시받은 순서대로 3색을 연속 조제한다. 91초, 실기 영상.</a:t>
            </a:r>
            <a:endParaRPr lang="ko-KR" sz="1200" dirty="0"/>
          </a:p>
        </p:txBody>
      </p:sp>
      <p:sp>
        <p:nvSpPr>
          <p:cNvPr id="4" name="Text 1"/>
          <p:cNvSpPr/>
          <p:nvPr/>
        </p:nvSpPr>
        <p:spPr>
          <a:xfrm>
            <a:off x="661475" y="3051870"/>
            <a:ext cx="5742340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 — Action Chunking Transformer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61475" y="3422948"/>
            <a:ext cx="5132755" cy="2606278"/>
          </a:xfrm>
          <a:prstGeom prst="rect">
            <a:avLst/>
          </a:prstGeom>
          <a:noFill/>
          <a:ln/>
        </p:spPr>
        <p:txBody>
          <a:bodyPr wrap="square" lIns="0" tIns="62022" rIns="0" bIns="0" rtlCol="0" anchor="t">
            <a:normAutofit/>
          </a:bodyPr>
          <a:lstStyle/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ResNet18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 카메라 2대 영상을 인코딩해 조각(토큰) 600개로 만들고, 트랜스포머 인코더·디코더로 100스텝 약 3.3초 분량의 행동을 한 번에 예측한다. 스텝마다 예측할 때 생기는 오차 누적을 줄이는 구조다.</a:t>
            </a:r>
            <a:endParaRPr lang="ko-KR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학습할 때는 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CVAE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가 정답 행동을 32차원 잠재변수로 압축해 사람 시연의 편차를 흡수한다. 추론 시에는 이 값을 0으로 둔다.</a:t>
            </a:r>
            <a:endParaRPr lang="ko-KR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목표는 인코더 입력에 조각 하나로 붙는다. 전체 603개 중 1개, 0.17%다. 이 비중이 원-핫이 무시된 직접적인 원인이었다.</a:t>
            </a:r>
            <a:endParaRPr lang="ko-KR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FiLM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은 목표가 닿는 범위를 조각 1개에서 화면 전체로 넓히고, 좌표 조건화는 색 이름 대신 화면 좌표를 줘서 값이 회차마다 달라지게 만든다. 둘 다 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코드를 수정해 만든 변형이다.</a:t>
            </a:r>
            <a:endParaRPr lang="ko-KR" sz="1200" dirty="0"/>
          </a:p>
        </p:txBody>
      </p:sp>
      <p:sp>
        <p:nvSpPr>
          <p:cNvPr id="6" name="Text 3"/>
          <p:cNvSpPr/>
          <p:nvPr/>
        </p:nvSpPr>
        <p:spPr>
          <a:xfrm>
            <a:off x="6178792" y="3051870"/>
            <a:ext cx="5967263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SmolVLA — Vision-Language-Action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78792" y="3422948"/>
            <a:ext cx="5357678" cy="2618978"/>
          </a:xfrm>
          <a:prstGeom prst="rect">
            <a:avLst/>
          </a:prstGeom>
          <a:noFill/>
          <a:ln/>
        </p:spPr>
        <p:txBody>
          <a:bodyPr wrap="square" lIns="0" tIns="62022" rIns="0" bIns="0" rtlCol="0" anchor="t">
            <a:normAutofit/>
          </a:bodyPr>
          <a:lstStyle/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SmolVLM2-500M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을 백본으로 이미지와 언어를 함께 묶어 앞단(prefix)을 만들고, 그 뒤에 붙은 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action expert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가 행동을 생성한다. 시각·언어·행동을 한 모델에서 처리한다.</a:t>
            </a:r>
            <a:endParaRPr lang="ko-KR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언어 경로는 사전학습된 가중치라 사실상 고정이다. 지시문을 바꿔도 내부 표현이 0.017%밖에 변하지 않았다. 이미지 토큰과 비교하면 신호 크기가 86배 작다.</a:t>
            </a:r>
            <a:endParaRPr lang="ko-KR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반면 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observation.state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는 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state_proj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라는 학습되는 선형층을 지난다. 로봇 관절이 6개뿐이라 이 입력에 빈 채널이 남는데, 그 자리에 목표 좌표를 넣으면 그래디언트가 직접 신호를 키운다.</a:t>
            </a:r>
            <a:endParaRPr lang="ko-KR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언어로 준 아홉 판이 모두 실패한 뒤, 좌표를 상태로 주입한 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smolvla_v10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이 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SmolVLA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계열 첫 실기 성공이 됐다.</a:t>
            </a:r>
            <a:endParaRPr lang="ko-KR" sz="1200" dirty="0"/>
          </a:p>
        </p:txBody>
      </p:sp>
      <p:sp>
        <p:nvSpPr>
          <p:cNvPr id="8" name="Text 5"/>
          <p:cNvSpPr/>
          <p:nvPr/>
        </p:nvSpPr>
        <p:spPr>
          <a:xfrm>
            <a:off x="11206577" y="6507361"/>
            <a:ext cx="869432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3866"/>
            <a:ext cx="114783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1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정책 비교</a:t>
            </a:r>
            <a:endParaRPr lang="ko-KR" sz="1150" dirty="0"/>
          </a:p>
        </p:txBody>
      </p:sp>
      <p:sp>
        <p:nvSpPr>
          <p:cNvPr id="3" name="Shape 1"/>
          <p:cNvSpPr/>
          <p:nvPr/>
        </p:nvSpPr>
        <p:spPr>
          <a:xfrm>
            <a:off x="661475" y="995263"/>
            <a:ext cx="10868745" cy="4259461"/>
          </a:xfrm>
          <a:prstGeom prst="roundRect">
            <a:avLst>
              <a:gd name="adj" fmla="val 52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1363266"/>
            <a:ext cx="10868745" cy="93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1734443"/>
            <a:ext cx="10868745" cy="93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105620"/>
            <a:ext cx="10868745" cy="93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476798"/>
            <a:ext cx="10868745" cy="93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2847975"/>
            <a:ext cx="10868745" cy="93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219152"/>
            <a:ext cx="10868745" cy="93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3590330"/>
            <a:ext cx="10868745" cy="93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3961507"/>
            <a:ext cx="10868745" cy="93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4332684"/>
            <a:ext cx="10868745" cy="93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4703862"/>
            <a:ext cx="10868745" cy="93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17939" y="1089422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정책</a:t>
            </a:r>
            <a:endParaRPr lang="ko-KR" sz="900" dirty="0"/>
          </a:p>
        </p:txBody>
      </p:sp>
      <p:sp>
        <p:nvSpPr>
          <p:cNvPr id="15" name="Text 13"/>
          <p:cNvSpPr/>
          <p:nvPr/>
        </p:nvSpPr>
        <p:spPr>
          <a:xfrm>
            <a:off x="2989089" y="1089422"/>
            <a:ext cx="193828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계열</a:t>
            </a:r>
            <a:endParaRPr lang="ko-KR" sz="900" dirty="0"/>
          </a:p>
        </p:txBody>
      </p:sp>
      <p:sp>
        <p:nvSpPr>
          <p:cNvPr id="16" name="Text 14"/>
          <p:cNvSpPr/>
          <p:nvPr/>
        </p:nvSpPr>
        <p:spPr>
          <a:xfrm>
            <a:off x="4617426" y="1089422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목표 지정</a:t>
            </a:r>
            <a:endParaRPr lang="ko-KR" sz="900" dirty="0"/>
          </a:p>
        </p:txBody>
      </p:sp>
      <p:sp>
        <p:nvSpPr>
          <p:cNvPr id="17" name="Text 15"/>
          <p:cNvSpPr/>
          <p:nvPr/>
        </p:nvSpPr>
        <p:spPr>
          <a:xfrm>
            <a:off x="6788575" y="1089422"/>
            <a:ext cx="302391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오프라인 지표</a:t>
            </a:r>
            <a:endParaRPr lang="ko-KR" sz="900" dirty="0"/>
          </a:p>
        </p:txBody>
      </p:sp>
      <p:sp>
        <p:nvSpPr>
          <p:cNvPr id="18" name="Text 16"/>
          <p:cNvSpPr/>
          <p:nvPr/>
        </p:nvSpPr>
        <p:spPr>
          <a:xfrm>
            <a:off x="9502537" y="1089422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실기</a:t>
            </a:r>
            <a:endParaRPr lang="ko-KR" sz="900" dirty="0"/>
          </a:p>
        </p:txBody>
      </p:sp>
      <p:sp>
        <p:nvSpPr>
          <p:cNvPr id="19" name="Text 17"/>
          <p:cNvSpPr/>
          <p:nvPr/>
        </p:nvSpPr>
        <p:spPr>
          <a:xfrm>
            <a:off x="817939" y="1454249"/>
            <a:ext cx="248110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act_red_224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89089" y="1454249"/>
            <a:ext cx="193828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17426" y="1454249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색별 정책, 목표 입력 없음</a:t>
            </a:r>
            <a:endParaRPr lang="ko-KR" sz="900" dirty="0"/>
          </a:p>
        </p:txBody>
      </p:sp>
      <p:sp>
        <p:nvSpPr>
          <p:cNvPr id="22" name="Text 20"/>
          <p:cNvSpPr/>
          <p:nvPr/>
        </p:nvSpPr>
        <p:spPr>
          <a:xfrm>
            <a:off x="6788575" y="1454249"/>
            <a:ext cx="302391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자기색 대비 3.00</a:t>
            </a:r>
            <a:endParaRPr lang="ko-KR" sz="900" dirty="0"/>
          </a:p>
        </p:txBody>
      </p:sp>
      <p:sp>
        <p:nvSpPr>
          <p:cNvPr id="23" name="Shape 21"/>
          <p:cNvSpPr/>
          <p:nvPr/>
        </p:nvSpPr>
        <p:spPr>
          <a:xfrm>
            <a:off x="9352721" y="1363266"/>
            <a:ext cx="2171150" cy="371177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24" name="Text 22"/>
          <p:cNvSpPr/>
          <p:nvPr/>
        </p:nvSpPr>
        <p:spPr>
          <a:xfrm>
            <a:off x="9502537" y="1454249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27252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동작 확인</a:t>
            </a:r>
            <a:endParaRPr lang="ko-KR" sz="900" dirty="0"/>
          </a:p>
        </p:txBody>
      </p:sp>
      <p:sp>
        <p:nvSpPr>
          <p:cNvPr id="25" name="Text 23"/>
          <p:cNvSpPr/>
          <p:nvPr/>
        </p:nvSpPr>
        <p:spPr>
          <a:xfrm>
            <a:off x="817939" y="1825427"/>
            <a:ext cx="248110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act_green_224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89089" y="1825427"/>
            <a:ext cx="193828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17426" y="1825427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색별 정책, 목표 입력 없음</a:t>
            </a:r>
            <a:endParaRPr lang="ko-KR" sz="900" dirty="0"/>
          </a:p>
        </p:txBody>
      </p:sp>
      <p:sp>
        <p:nvSpPr>
          <p:cNvPr id="28" name="Text 26"/>
          <p:cNvSpPr/>
          <p:nvPr/>
        </p:nvSpPr>
        <p:spPr>
          <a:xfrm>
            <a:off x="6788575" y="1825427"/>
            <a:ext cx="302391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자기색 대비 4.77</a:t>
            </a:r>
            <a:endParaRPr lang="ko-KR" sz="900" dirty="0"/>
          </a:p>
        </p:txBody>
      </p:sp>
      <p:sp>
        <p:nvSpPr>
          <p:cNvPr id="29" name="Shape 27"/>
          <p:cNvSpPr/>
          <p:nvPr/>
        </p:nvSpPr>
        <p:spPr>
          <a:xfrm>
            <a:off x="9352721" y="1734443"/>
            <a:ext cx="2171150" cy="371177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30" name="Text 28"/>
          <p:cNvSpPr/>
          <p:nvPr/>
        </p:nvSpPr>
        <p:spPr>
          <a:xfrm>
            <a:off x="9502537" y="1825427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27252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동작 확인</a:t>
            </a:r>
            <a:endParaRPr lang="ko-KR" sz="900" dirty="0"/>
          </a:p>
        </p:txBody>
      </p:sp>
      <p:sp>
        <p:nvSpPr>
          <p:cNvPr id="31" name="Text 29"/>
          <p:cNvSpPr/>
          <p:nvPr/>
        </p:nvSpPr>
        <p:spPr>
          <a:xfrm>
            <a:off x="817939" y="2196604"/>
            <a:ext cx="248110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act_yellow_224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989089" y="2196604"/>
            <a:ext cx="193828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17426" y="2196604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색별 정책, 목표 입력 없음</a:t>
            </a:r>
            <a:endParaRPr lang="ko-KR" sz="900" dirty="0"/>
          </a:p>
        </p:txBody>
      </p:sp>
      <p:sp>
        <p:nvSpPr>
          <p:cNvPr id="34" name="Text 32"/>
          <p:cNvSpPr/>
          <p:nvPr/>
        </p:nvSpPr>
        <p:spPr>
          <a:xfrm>
            <a:off x="6788575" y="2196604"/>
            <a:ext cx="302391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자기색 대비 3.50</a:t>
            </a:r>
            <a:endParaRPr lang="ko-KR" sz="900" dirty="0"/>
          </a:p>
        </p:txBody>
      </p:sp>
      <p:sp>
        <p:nvSpPr>
          <p:cNvPr id="35" name="Shape 33"/>
          <p:cNvSpPr/>
          <p:nvPr/>
        </p:nvSpPr>
        <p:spPr>
          <a:xfrm>
            <a:off x="9352721" y="2105620"/>
            <a:ext cx="2171150" cy="371177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36" name="Text 34"/>
          <p:cNvSpPr/>
          <p:nvPr/>
        </p:nvSpPr>
        <p:spPr>
          <a:xfrm>
            <a:off x="9502537" y="2196604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27252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동작 확인</a:t>
            </a:r>
            <a:endParaRPr lang="ko-KR" sz="900" dirty="0"/>
          </a:p>
        </p:txBody>
      </p:sp>
      <p:sp>
        <p:nvSpPr>
          <p:cNvPr id="37" name="Text 35"/>
          <p:cNvSpPr/>
          <p:nvPr/>
        </p:nvSpPr>
        <p:spPr>
          <a:xfrm>
            <a:off x="817939" y="2567781"/>
            <a:ext cx="248110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act_v3_3color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989089" y="2567781"/>
            <a:ext cx="193828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17426" y="2567781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원-핫 토큰</a:t>
            </a:r>
            <a:endParaRPr lang="ko-KR" sz="900" dirty="0"/>
          </a:p>
        </p:txBody>
      </p:sp>
      <p:sp>
        <p:nvSpPr>
          <p:cNvPr id="40" name="Text 38"/>
          <p:cNvSpPr/>
          <p:nvPr/>
        </p:nvSpPr>
        <p:spPr>
          <a:xfrm>
            <a:off x="6788575" y="2567781"/>
            <a:ext cx="302391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1.00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502537" y="2567781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기준선 수준, 중단</a:t>
            </a:r>
            <a:endParaRPr lang="ko-KR" sz="900" dirty="0"/>
          </a:p>
        </p:txBody>
      </p:sp>
      <p:sp>
        <p:nvSpPr>
          <p:cNvPr id="42" name="Text 40"/>
          <p:cNvSpPr/>
          <p:nvPr/>
        </p:nvSpPr>
        <p:spPr>
          <a:xfrm>
            <a:off x="817939" y="2938959"/>
            <a:ext cx="248110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act_novae_224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989089" y="2938959"/>
            <a:ext cx="193828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17426" y="2938959"/>
            <a:ext cx="248110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CVAE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제거</a:t>
            </a:r>
            <a:endParaRPr lang="ko-KR" sz="900" dirty="0"/>
          </a:p>
        </p:txBody>
      </p:sp>
      <p:sp>
        <p:nvSpPr>
          <p:cNvPr id="45" name="Text 43"/>
          <p:cNvSpPr/>
          <p:nvPr/>
        </p:nvSpPr>
        <p:spPr>
          <a:xfrm>
            <a:off x="6788575" y="2938959"/>
            <a:ext cx="302391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1.13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502537" y="2938959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개선 없어 중단</a:t>
            </a:r>
            <a:endParaRPr lang="ko-KR" sz="900" dirty="0"/>
          </a:p>
        </p:txBody>
      </p:sp>
      <p:sp>
        <p:nvSpPr>
          <p:cNvPr id="47" name="Text 45"/>
          <p:cNvSpPr/>
          <p:nvPr/>
        </p:nvSpPr>
        <p:spPr>
          <a:xfrm>
            <a:off x="817939" y="3310136"/>
            <a:ext cx="248110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act_film_224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989089" y="3310136"/>
            <a:ext cx="193828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17426" y="3310136"/>
            <a:ext cx="248110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원-핫 + 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FiLM</a:t>
            </a:r>
            <a:endParaRPr lang="ko-KR" sz="900" dirty="0"/>
          </a:p>
        </p:txBody>
      </p:sp>
      <p:sp>
        <p:nvSpPr>
          <p:cNvPr id="50" name="Text 48"/>
          <p:cNvSpPr/>
          <p:nvPr/>
        </p:nvSpPr>
        <p:spPr>
          <a:xfrm>
            <a:off x="6788575" y="3310136"/>
            <a:ext cx="302391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1.22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352721" y="3219152"/>
            <a:ext cx="2171150" cy="371177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52" name="Text 50"/>
          <p:cNvSpPr/>
          <p:nvPr/>
        </p:nvSpPr>
        <p:spPr>
          <a:xfrm>
            <a:off x="9502537" y="3310136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27252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3색 연속 성공</a:t>
            </a:r>
            <a:endParaRPr lang="ko-KR" sz="900" dirty="0"/>
          </a:p>
        </p:txBody>
      </p:sp>
      <p:sp>
        <p:nvSpPr>
          <p:cNvPr id="53" name="Text 51"/>
          <p:cNvSpPr/>
          <p:nvPr/>
        </p:nvSpPr>
        <p:spPr>
          <a:xfrm>
            <a:off x="817939" y="3681313"/>
            <a:ext cx="248110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act_xy_224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989089" y="3681313"/>
            <a:ext cx="193828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617426" y="3681313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좌표 (u, v)</a:t>
            </a:r>
            <a:endParaRPr lang="ko-KR" sz="900" dirty="0"/>
          </a:p>
        </p:txBody>
      </p:sp>
      <p:sp>
        <p:nvSpPr>
          <p:cNvPr id="56" name="Text 54"/>
          <p:cNvSpPr/>
          <p:nvPr/>
        </p:nvSpPr>
        <p:spPr>
          <a:xfrm>
            <a:off x="6788575" y="3681313"/>
            <a:ext cx="302391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초기 선택률 51%</a:t>
            </a:r>
            <a:endParaRPr lang="ko-KR" sz="900" dirty="0"/>
          </a:p>
        </p:txBody>
      </p:sp>
      <p:sp>
        <p:nvSpPr>
          <p:cNvPr id="57" name="Shape 55"/>
          <p:cNvSpPr/>
          <p:nvPr/>
        </p:nvSpPr>
        <p:spPr>
          <a:xfrm>
            <a:off x="9352721" y="3590330"/>
            <a:ext cx="2171150" cy="371177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58" name="Text 56"/>
          <p:cNvSpPr/>
          <p:nvPr/>
        </p:nvSpPr>
        <p:spPr>
          <a:xfrm>
            <a:off x="9502537" y="3681313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27252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3색 연속 성공</a:t>
            </a:r>
            <a:endParaRPr lang="ko-KR" sz="900" dirty="0"/>
          </a:p>
        </p:txBody>
      </p:sp>
      <p:sp>
        <p:nvSpPr>
          <p:cNvPr id="59" name="Text 57"/>
          <p:cNvSpPr/>
          <p:nvPr/>
        </p:nvSpPr>
        <p:spPr>
          <a:xfrm>
            <a:off x="817939" y="4052491"/>
            <a:ext cx="248110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smolvla_v1~v9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989089" y="4052491"/>
            <a:ext cx="193828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SmolVLA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617426" y="4052491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언어 지시</a:t>
            </a:r>
            <a:endParaRPr lang="ko-KR" sz="900" dirty="0"/>
          </a:p>
        </p:txBody>
      </p:sp>
      <p:sp>
        <p:nvSpPr>
          <p:cNvPr id="62" name="Text 60"/>
          <p:cNvSpPr/>
          <p:nvPr/>
        </p:nvSpPr>
        <p:spPr>
          <a:xfrm>
            <a:off x="6788575" y="4052491"/>
            <a:ext cx="302391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0.89~2.02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502537" y="4052491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아홉 판 모두 실패</a:t>
            </a:r>
            <a:endParaRPr lang="ko-KR" sz="900" dirty="0"/>
          </a:p>
        </p:txBody>
      </p:sp>
      <p:sp>
        <p:nvSpPr>
          <p:cNvPr id="64" name="Text 62"/>
          <p:cNvSpPr/>
          <p:nvPr/>
        </p:nvSpPr>
        <p:spPr>
          <a:xfrm>
            <a:off x="817939" y="4423668"/>
            <a:ext cx="248110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smolvla_v10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989089" y="4423668"/>
            <a:ext cx="193828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SmolVLA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617426" y="4423668"/>
            <a:ext cx="248110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좌표 → 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observation.state</a:t>
            </a:r>
            <a:endParaRPr lang="ko-KR" sz="900" dirty="0"/>
          </a:p>
        </p:txBody>
      </p:sp>
      <p:sp>
        <p:nvSpPr>
          <p:cNvPr id="67" name="Text 65"/>
          <p:cNvSpPr/>
          <p:nvPr/>
        </p:nvSpPr>
        <p:spPr>
          <a:xfrm>
            <a:off x="6788575" y="4423668"/>
            <a:ext cx="302391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좌표 추종 +0.31</a:t>
            </a:r>
            <a:endParaRPr lang="ko-KR" sz="900" dirty="0"/>
          </a:p>
        </p:txBody>
      </p:sp>
      <p:sp>
        <p:nvSpPr>
          <p:cNvPr id="68" name="Shape 66"/>
          <p:cNvSpPr/>
          <p:nvPr/>
        </p:nvSpPr>
        <p:spPr>
          <a:xfrm>
            <a:off x="9352721" y="4332684"/>
            <a:ext cx="2171150" cy="371177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69" name="Text 67"/>
          <p:cNvSpPr/>
          <p:nvPr/>
        </p:nvSpPr>
        <p:spPr>
          <a:xfrm>
            <a:off x="9502537" y="4423668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27252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성공</a:t>
            </a:r>
            <a:endParaRPr lang="ko-KR" sz="900" dirty="0"/>
          </a:p>
        </p:txBody>
      </p:sp>
      <p:sp>
        <p:nvSpPr>
          <p:cNvPr id="70" name="Text 68"/>
          <p:cNvSpPr/>
          <p:nvPr/>
        </p:nvSpPr>
        <p:spPr>
          <a:xfrm>
            <a:off x="817939" y="4794845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기준선</a:t>
            </a:r>
            <a:endParaRPr lang="ko-KR" sz="900" dirty="0"/>
          </a:p>
        </p:txBody>
      </p:sp>
      <p:sp>
        <p:nvSpPr>
          <p:cNvPr id="71" name="Text 69"/>
          <p:cNvSpPr/>
          <p:nvPr/>
        </p:nvSpPr>
        <p:spPr>
          <a:xfrm>
            <a:off x="2989089" y="4794845"/>
            <a:ext cx="193828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617426" y="4794845"/>
            <a:ext cx="1871516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화면을 보지 않고 색별 평균 궤적만 내는 예측기</a:t>
            </a:r>
            <a:endParaRPr lang="ko-KR" sz="900" dirty="0"/>
          </a:p>
        </p:txBody>
      </p:sp>
      <p:sp>
        <p:nvSpPr>
          <p:cNvPr id="73" name="Text 71"/>
          <p:cNvSpPr/>
          <p:nvPr/>
        </p:nvSpPr>
        <p:spPr>
          <a:xfrm>
            <a:off x="6788575" y="4794845"/>
            <a:ext cx="302391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1.02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9502537" y="4794845"/>
            <a:ext cx="24811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—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61475" y="5407521"/>
            <a:ext cx="10868745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1200"/>
              </a:spcAft>
              <a:buNone/>
            </a:pPr>
            <a:r>
              <a:rPr lang="ko-KR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색별 정책 3개와 단일 정책 세 가지(</a:t>
            </a:r>
            <a:pPr algn="l" indent="0" marL="0">
              <a:lnSpc>
                <a:spcPct val="127000"/>
              </a:lnSpc>
              <a:spcAft>
                <a:spcPts val="1200"/>
              </a:spcAft>
              <a:buNone/>
            </a:pPr>
            <a:r>
              <a:rPr lang="ko-KR" altLang="en-US" sz="11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act_film_224</a:t>
            </a:r>
            <a:pPr algn="l" indent="0" marL="0">
              <a:lnSpc>
                <a:spcPct val="127000"/>
              </a:lnSpc>
              <a:spcAft>
                <a:spcPts val="1200"/>
              </a:spcAft>
              <a:buNone/>
            </a:pPr>
            <a:r>
              <a:rPr lang="ko-KR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pPr algn="l" indent="0" marL="0">
              <a:lnSpc>
                <a:spcPct val="127000"/>
              </a:lnSpc>
              <a:spcAft>
                <a:spcPts val="1200"/>
              </a:spcAft>
              <a:buNone/>
            </a:pPr>
            <a:r>
              <a:rPr lang="ko-KR" altLang="en-US" sz="11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act_xy_224</a:t>
            </a:r>
            <a:pPr algn="l" indent="0" marL="0">
              <a:lnSpc>
                <a:spcPct val="127000"/>
              </a:lnSpc>
              <a:spcAft>
                <a:spcPts val="1200"/>
              </a:spcAft>
              <a:buNone/>
            </a:pPr>
            <a:r>
              <a:rPr lang="ko-KR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pPr algn="l" indent="0" marL="0">
              <a:lnSpc>
                <a:spcPct val="127000"/>
              </a:lnSpc>
              <a:spcAft>
                <a:spcPts val="1200"/>
              </a:spcAft>
              <a:buNone/>
            </a:pPr>
            <a:r>
              <a:rPr lang="ko-KR" altLang="en-US" sz="11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smolvla_v10</a:t>
            </a:r>
            <a:pPr algn="l" indent="0" marL="0">
              <a:lnSpc>
                <a:spcPct val="127000"/>
              </a:lnSpc>
              <a:spcAft>
                <a:spcPts val="1200"/>
              </a:spcAft>
              <a:buNone/>
            </a:pPr>
            <a:r>
              <a:rPr lang="ko-KR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)로 3색 연속 조제에 성공했다. 오프라인 지표와 실기 결과가 네 번 어긋나, 최종 판정은 항상 실기로 했다.</a:t>
            </a:r>
            <a:endParaRPr lang="ko-KR" sz="1150" dirty="0"/>
          </a:p>
        </p:txBody>
      </p:sp>
      <p:sp>
        <p:nvSpPr>
          <p:cNvPr id="76" name="Text 74"/>
          <p:cNvSpPr/>
          <p:nvPr/>
        </p:nvSpPr>
        <p:spPr>
          <a:xfrm>
            <a:off x="11181475" y="6507361"/>
            <a:ext cx="894534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47600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주요 기능 3.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3240782"/>
            <a:ext cx="10868745" cy="1033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65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관제 대시보드 </a:t>
            </a:r>
            <a:endParaRPr lang="ko-KR" sz="6500" dirty="0"/>
          </a:p>
        </p:txBody>
      </p:sp>
      <p:sp>
        <p:nvSpPr>
          <p:cNvPr id="4" name="Text 2"/>
          <p:cNvSpPr/>
          <p:nvPr/>
        </p:nvSpPr>
        <p:spPr>
          <a:xfrm>
            <a:off x="11208164" y="6507361"/>
            <a:ext cx="867845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3159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1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관제 대시보드 — QR 스캔이 안내 세션의 시작점</a:t>
            </a:r>
            <a:endParaRPr lang="ko-KR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01763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설계 결정 흐름</a:t>
            </a:r>
            <a:endParaRPr lang="ko-KR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1807270"/>
            <a:ext cx="5848501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12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환자 정보를 어떻게 관리할까?</a:t>
            </a:r>
            <a:endParaRPr lang="ko-KR" sz="1250" dirty="0"/>
          </a:p>
        </p:txBody>
      </p:sp>
      <p:sp>
        <p:nvSpPr>
          <p:cNvPr id="5" name="Text 3"/>
          <p:cNvSpPr/>
          <p:nvPr/>
        </p:nvSpPr>
        <p:spPr>
          <a:xfrm>
            <a:off x="661475" y="2199184"/>
            <a:ext cx="5238917" cy="865485"/>
          </a:xfrm>
          <a:prstGeom prst="rect">
            <a:avLst/>
          </a:prstGeom>
          <a:noFill/>
          <a:ln/>
        </p:spPr>
        <p:txBody>
          <a:bodyPr wrap="square" lIns="0" tIns="64089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QR 코드에 환자 정보를 담기로 결정</a:t>
            </a:r>
            <a:endParaRPr lang="ko-KR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스캔 주체는 의료진(간호사) </a:t>
            </a:r>
            <a:endParaRPr lang="ko-KR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의료진이 QR을 인식시킬 전용 화면 필요</a:t>
            </a:r>
            <a:endParaRPr lang="ko-KR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3204270"/>
            <a:ext cx="5848501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12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QR 스캔이 전체 플로우의 시작점</a:t>
            </a:r>
            <a:endParaRPr lang="ko-KR" sz="1250" dirty="0"/>
          </a:p>
        </p:txBody>
      </p:sp>
      <p:sp>
        <p:nvSpPr>
          <p:cNvPr id="7" name="Text 5"/>
          <p:cNvSpPr/>
          <p:nvPr/>
        </p:nvSpPr>
        <p:spPr>
          <a:xfrm>
            <a:off x="661475" y="3596184"/>
            <a:ext cx="5848501" cy="252313"/>
          </a:xfrm>
          <a:prstGeom prst="rect">
            <a:avLst/>
          </a:prstGeom>
          <a:noFill/>
          <a:ln/>
        </p:spPr>
        <p:txBody>
          <a:bodyPr wrap="none" lIns="0" tIns="64089" rIns="0" bIns="0" rtlCol="0" anchor="t"/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로봇 활성화(arming) → QR 스캔 → 세션 생성 → 로봇 안내 시작</a:t>
            </a:r>
            <a:endParaRPr lang="ko-KR" sz="1250" dirty="0"/>
          </a:p>
        </p:txBody>
      </p:sp>
      <p:sp>
        <p:nvSpPr>
          <p:cNvPr id="8" name="Text 6"/>
          <p:cNvSpPr/>
          <p:nvPr/>
        </p:nvSpPr>
        <p:spPr>
          <a:xfrm>
            <a:off x="6297653" y="1401763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의료진 화면 구성</a:t>
            </a:r>
            <a:endParaRPr lang="ko-KR" sz="1550" dirty="0"/>
          </a:p>
        </p:txBody>
      </p:sp>
      <p:sp>
        <p:nvSpPr>
          <p:cNvPr id="9" name="Text 7"/>
          <p:cNvSpPr/>
          <p:nvPr/>
        </p:nvSpPr>
        <p:spPr>
          <a:xfrm>
            <a:off x="6297653" y="1807270"/>
            <a:ext cx="5848501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12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① 로봇 카메라 인식 과정 실시간 미리보기</a:t>
            </a:r>
            <a:endParaRPr lang="ko-KR" sz="1250" dirty="0"/>
          </a:p>
        </p:txBody>
      </p:sp>
      <p:sp>
        <p:nvSpPr>
          <p:cNvPr id="10" name="Text 8"/>
          <p:cNvSpPr/>
          <p:nvPr/>
        </p:nvSpPr>
        <p:spPr>
          <a:xfrm>
            <a:off x="6297653" y="2199184"/>
            <a:ext cx="5238917" cy="865485"/>
          </a:xfrm>
          <a:prstGeom prst="rect">
            <a:avLst/>
          </a:prstGeom>
          <a:noFill/>
          <a:ln/>
        </p:spPr>
        <p:txBody>
          <a:bodyPr wrap="square" lIns="0" tIns="64089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Pinky 카메라 영상을 화면에 그대로 스트리밍</a:t>
            </a:r>
            <a:endParaRPr lang="ko-KR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인식된 QR 위에 박스·patient_id 오버레이</a:t>
            </a:r>
            <a:endParaRPr lang="ko-KR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인식이 잘 되고 있는지 의료진이 눈으로 즉시 확인</a:t>
            </a:r>
            <a:endParaRPr lang="ko-KR" sz="1250" dirty="0"/>
          </a:p>
        </p:txBody>
      </p:sp>
      <p:sp>
        <p:nvSpPr>
          <p:cNvPr id="11" name="Text 9"/>
          <p:cNvSpPr/>
          <p:nvPr/>
        </p:nvSpPr>
        <p:spPr>
          <a:xfrm>
            <a:off x="6297653" y="3204270"/>
            <a:ext cx="5848501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12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② 인식 완료 → 안내 진행 카드로 전환</a:t>
            </a:r>
            <a:endParaRPr lang="ko-KR" sz="1250" dirty="0"/>
          </a:p>
        </p:txBody>
      </p:sp>
      <p:sp>
        <p:nvSpPr>
          <p:cNvPr id="12" name="Text 10"/>
          <p:cNvSpPr/>
          <p:nvPr/>
        </p:nvSpPr>
        <p:spPr>
          <a:xfrm>
            <a:off x="6297653" y="3596184"/>
            <a:ext cx="5238917" cy="558899"/>
          </a:xfrm>
          <a:prstGeom prst="rect">
            <a:avLst/>
          </a:prstGeom>
          <a:noFill/>
          <a:ln/>
        </p:spPr>
        <p:txBody>
          <a:bodyPr wrap="square" lIns="0" tIns="64089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환자 정보 · 진행 스텝 · 배터리 · 목적지 · 도착 예정 시간</a:t>
            </a:r>
            <a:endParaRPr lang="ko-KR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알림 영역으로 로봇 이벤트(도착·오류·완료) 표시</a:t>
            </a:r>
            <a:endParaRPr lang="ko-KR" sz="1250" dirty="0"/>
          </a:p>
        </p:txBody>
      </p:sp>
      <p:sp>
        <p:nvSpPr>
          <p:cNvPr id="13" name="Shape 11"/>
          <p:cNvSpPr/>
          <p:nvPr/>
        </p:nvSpPr>
        <p:spPr>
          <a:xfrm>
            <a:off x="661475" y="4383881"/>
            <a:ext cx="10868745" cy="1853406"/>
          </a:xfrm>
          <a:prstGeom prst="roundRect">
            <a:avLst>
              <a:gd name="adj" fmla="val 1297"/>
            </a:avLst>
          </a:prstGeom>
          <a:solidFill>
            <a:srgbClr val="DBF0D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610" y="4603948"/>
            <a:ext cx="200218" cy="16013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81963" y="4579045"/>
            <a:ext cx="10797706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FastAPI + PostgreSQL이 QR 스캔부터 세션 관제까지 중계</a:t>
            </a:r>
            <a:endParaRPr lang="ko-KR" sz="1250" dirty="0"/>
          </a:p>
        </p:txBody>
      </p:sp>
      <p:sp>
        <p:nvSpPr>
          <p:cNvPr id="16" name="Text 13"/>
          <p:cNvSpPr/>
          <p:nvPr/>
        </p:nvSpPr>
        <p:spPr>
          <a:xfrm>
            <a:off x="1181963" y="4970959"/>
            <a:ext cx="10188122" cy="1172071"/>
          </a:xfrm>
          <a:prstGeom prst="rect">
            <a:avLst/>
          </a:prstGeom>
          <a:noFill/>
          <a:ln/>
        </p:spPr>
        <p:txBody>
          <a:bodyPr wrap="square" lIns="0" tIns="64089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QR 인식 → POST /qr/scan → 활성 세션 생성 · DB 기록</a:t>
            </a:r>
            <a:endParaRPr lang="ko-KR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카메라 미리보기 → 로봇 MJPEG 스트림을 img로 임베드</a:t>
            </a:r>
            <a:endParaRPr lang="ko-KR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화면 갱신 → HTTP 3초 폴링으로 세션·이벤트·로봇 상태 조회</a:t>
            </a:r>
            <a:endParaRPr lang="ko-KR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ko-KR" altLang="en-US" sz="12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로봇 이벤트 → mingky_event_gateway(ROS2) 로컬 큐 + 재시도로 유실 방지</a:t>
            </a:r>
            <a:endParaRPr lang="ko-KR" sz="1250" dirty="0"/>
          </a:p>
        </p:txBody>
      </p:sp>
      <p:sp>
        <p:nvSpPr>
          <p:cNvPr id="17" name="Text 14"/>
          <p:cNvSpPr/>
          <p:nvPr/>
        </p:nvSpPr>
        <p:spPr>
          <a:xfrm>
            <a:off x="11184848" y="6507361"/>
            <a:ext cx="891161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0375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환자 QR 카드</a:t>
            </a:r>
            <a:endParaRPr lang="ko-KR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181" y="1289546"/>
            <a:ext cx="6667333" cy="50006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83658" y="6507361"/>
            <a:ext cx="892351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1806"/>
            <a:ext cx="10868745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9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의료진 화면 예시</a:t>
            </a:r>
            <a:endParaRPr lang="ko-KR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790" y="1153914"/>
            <a:ext cx="8290114" cy="47333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82070" y="6507361"/>
            <a:ext cx="893939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260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약국 화면 예시</a:t>
            </a:r>
            <a:endParaRPr lang="ko-KR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6671" y="1990030"/>
            <a:ext cx="8538254" cy="3617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86436" y="6507361"/>
            <a:ext cx="889573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4022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로봇 시연 영상 - Pinky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787650"/>
            <a:ext cx="10868745" cy="2022574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19" y="2971998"/>
            <a:ext cx="10500058" cy="1653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83360" y="6507361"/>
            <a:ext cx="892649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4022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로봇 시연 영상 - OMX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787650"/>
            <a:ext cx="10868745" cy="2022574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19" y="2971998"/>
            <a:ext cx="10500058" cy="1653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90107" y="6507361"/>
            <a:ext cx="885902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158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8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이슈 및 해결 1 - 저상 장애물 회피</a:t>
            </a:r>
            <a:endParaRPr lang="ko-KR" sz="2800" dirty="0"/>
          </a:p>
        </p:txBody>
      </p:sp>
      <p:sp>
        <p:nvSpPr>
          <p:cNvPr id="3" name="Shape 1"/>
          <p:cNvSpPr/>
          <p:nvPr/>
        </p:nvSpPr>
        <p:spPr>
          <a:xfrm>
            <a:off x="557298" y="1113730"/>
            <a:ext cx="3334063" cy="3710781"/>
          </a:xfrm>
          <a:prstGeom prst="roundRect">
            <a:avLst>
              <a:gd name="adj" fmla="val 651"/>
            </a:avLst>
          </a:pr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701955" y="1240334"/>
            <a:ext cx="304474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낮아서 보이지 않는 장애물, 초음파만으로는 충분하지 않았다</a:t>
            </a:r>
            <a:endParaRPr lang="ko-KR" sz="1400" dirty="0"/>
          </a:p>
        </p:txBody>
      </p:sp>
      <p:sp>
        <p:nvSpPr>
          <p:cNvPr id="5" name="Text 3"/>
          <p:cNvSpPr/>
          <p:nvPr/>
        </p:nvSpPr>
        <p:spPr>
          <a:xfrm>
            <a:off x="701955" y="1818977"/>
            <a:ext cx="3044749" cy="174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문제</a:t>
            </a:r>
            <a:endParaRPr lang="ko-KR" sz="1100" dirty="0"/>
          </a:p>
          <a:p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2D LiDAR 높이보다 낮은 슬리퍼·작은 상자를 감지하지 못함</a:t>
            </a:r>
            <a:endParaRPr lang="ko-KR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ko-KR" alt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영향</a:t>
            </a:r>
            <a:endParaRPr lang="ko-KR" sz="1100" dirty="0"/>
          </a:p>
          <a:p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로봇이 장애물을 밀고 가는 현상 발생</a:t>
            </a:r>
            <a:endParaRPr lang="ko-KR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ko-KR" alt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목표</a:t>
            </a:r>
            <a:endParaRPr lang="ko-KR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단순 정지가 아닌 Nav2 우회가 필요</a:t>
            </a:r>
            <a:endParaRPr lang="ko-KR" sz="1100" dirty="0"/>
          </a:p>
        </p:txBody>
      </p:sp>
      <p:sp>
        <p:nvSpPr>
          <p:cNvPr id="6" name="Text 4"/>
          <p:cNvSpPr/>
          <p:nvPr/>
        </p:nvSpPr>
        <p:spPr>
          <a:xfrm>
            <a:off x="4146545" y="1240334"/>
            <a:ext cx="738992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저상 장애물 판단 기준 </a:t>
            </a:r>
            <a:endParaRPr lang="ko-KR" sz="1400" dirty="0"/>
          </a:p>
        </p:txBody>
      </p:sp>
      <p:sp>
        <p:nvSpPr>
          <p:cNvPr id="7" name="Text 5"/>
          <p:cNvSpPr/>
          <p:nvPr/>
        </p:nvSpPr>
        <p:spPr>
          <a:xfrm>
            <a:off x="4146545" y="1592957"/>
            <a:ext cx="738992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초음파 최근 3개 중앙값, 초음파 거리 40cm 이하 + 같은 방향의 LiDAR가 초음파보다 15cm 이상 멀리 측정초음파 값을 정면의 한 점으로 단정하지 않고, 오도메트리 기준의 부채꼴 영역으로 표현했습니다. 서로 다른 자세에서 얻은 최대 3개 부채꼴의 겹치는 영역만 장애물 후보 위치로 추정했습니다.</a:t>
            </a:r>
            <a:endParaRPr lang="ko-KR" sz="1100" dirty="0"/>
          </a:p>
        </p:txBody>
      </p:sp>
      <p:sp>
        <p:nvSpPr>
          <p:cNvPr id="8" name="Shape 6"/>
          <p:cNvSpPr/>
          <p:nvPr/>
        </p:nvSpPr>
        <p:spPr>
          <a:xfrm>
            <a:off x="4146545" y="2386608"/>
            <a:ext cx="7389925" cy="2295525"/>
          </a:xfrm>
          <a:prstGeom prst="roundRect">
            <a:avLst>
              <a:gd name="adj" fmla="val 94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751" y="2475210"/>
            <a:ext cx="2090784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해결 시도</a:t>
            </a:r>
            <a:endParaRPr lang="ko-KR" sz="1100" dirty="0"/>
          </a:p>
        </p:txBody>
      </p:sp>
      <p:sp>
        <p:nvSpPr>
          <p:cNvPr id="10" name="Text 8"/>
          <p:cNvSpPr/>
          <p:nvPr/>
        </p:nvSpPr>
        <p:spPr>
          <a:xfrm>
            <a:off x="6068265" y="2475210"/>
            <a:ext cx="1554917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전방 초음파 센서로 저상 장애물 거리 측정</a:t>
            </a:r>
            <a:endParaRPr lang="ko-KR" sz="1100" dirty="0"/>
          </a:p>
        </p:txBody>
      </p:sp>
      <p:sp>
        <p:nvSpPr>
          <p:cNvPr id="11" name="Text 9"/>
          <p:cNvSpPr/>
          <p:nvPr/>
        </p:nvSpPr>
        <p:spPr>
          <a:xfrm>
            <a:off x="7912497" y="2475210"/>
            <a:ext cx="1554917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연속 측정값·정면 LiDAR·진행 방향을 함께 비교</a:t>
            </a:r>
            <a:endParaRPr lang="ko-KR" sz="1100" dirty="0"/>
          </a:p>
        </p:txBody>
      </p:sp>
      <p:sp>
        <p:nvSpPr>
          <p:cNvPr id="12" name="Text 10"/>
          <p:cNvSpPr/>
          <p:nvPr/>
        </p:nvSpPr>
        <p:spPr>
          <a:xfrm>
            <a:off x="9756729" y="2475210"/>
            <a:ext cx="1628734" cy="108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장애물 후보를 Local·Global Costmap에 임시 등록 관제 3D 지도에 감지 상태와 추정 위치 표시</a:t>
            </a:r>
            <a:endParaRPr lang="ko-KR" sz="1100" dirty="0"/>
          </a:p>
        </p:txBody>
      </p:sp>
      <p:sp>
        <p:nvSpPr>
          <p:cNvPr id="13" name="Text 11"/>
          <p:cNvSpPr/>
          <p:nvPr/>
        </p:nvSpPr>
        <p:spPr>
          <a:xfrm>
            <a:off x="4297751" y="3725168"/>
            <a:ext cx="148120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실기 검증에서 발견한 한계</a:t>
            </a:r>
            <a:endParaRPr lang="ko-KR" sz="1100" dirty="0"/>
          </a:p>
        </p:txBody>
      </p:sp>
      <p:sp>
        <p:nvSpPr>
          <p:cNvPr id="14" name="Text 12"/>
          <p:cNvSpPr/>
          <p:nvPr/>
        </p:nvSpPr>
        <p:spPr>
          <a:xfrm>
            <a:off x="6068265" y="3725168"/>
            <a:ext cx="1554917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초음파의 넓은 방사각으로 코너·옆 벽을 오인</a:t>
            </a:r>
            <a:endParaRPr lang="ko-KR" sz="1100" dirty="0"/>
          </a:p>
        </p:txBody>
      </p:sp>
      <p:sp>
        <p:nvSpPr>
          <p:cNvPr id="15" name="Text 13"/>
          <p:cNvSpPr/>
          <p:nvPr/>
        </p:nvSpPr>
        <p:spPr>
          <a:xfrm>
            <a:off x="7912497" y="3725168"/>
            <a:ext cx="1554917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방향과 폭을 알 수 없어 Costmap 위치가 부정확</a:t>
            </a:r>
            <a:endParaRPr lang="ko-KR" sz="1100" dirty="0"/>
          </a:p>
        </p:txBody>
      </p:sp>
      <p:sp>
        <p:nvSpPr>
          <p:cNvPr id="16" name="Text 14"/>
          <p:cNvSpPr/>
          <p:nvPr/>
        </p:nvSpPr>
        <p:spPr>
          <a:xfrm>
            <a:off x="9756729" y="3725168"/>
            <a:ext cx="1628734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표식을 빨리 지우면 재진입, 오래 유지하면 중복 누적 경로가 좌우로 변경되며 안정적인 우회에 실패</a:t>
            </a:r>
            <a:endParaRPr lang="ko-KR" sz="1100" dirty="0"/>
          </a:p>
        </p:txBody>
      </p:sp>
      <p:sp>
        <p:nvSpPr>
          <p:cNvPr id="17" name="Shape 15"/>
          <p:cNvSpPr/>
          <p:nvPr/>
        </p:nvSpPr>
        <p:spPr>
          <a:xfrm>
            <a:off x="661475" y="500300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64646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78461" y="5342930"/>
            <a:ext cx="1065175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계산 시간 증가 → ROS 콜백 대기열 누적 → 초음파·LiDAR·Odometry 처리 시점 불일치 → 오래된 TF와 센서값을 함께 비교 → 장애물 표시·삭제가 늦게 적용 → Costmap과 실제 위치 불일치 → 경로 재계획 반복 → MPPI 제어 주기 추가 지연 → 정지 또는 좌우 회전 반복</a:t>
            </a:r>
            <a:endParaRPr lang="ko-KR" sz="1100" dirty="0"/>
          </a:p>
        </p:txBody>
      </p:sp>
      <p:sp>
        <p:nvSpPr>
          <p:cNvPr id="19" name="Shape 17"/>
          <p:cNvSpPr/>
          <p:nvPr/>
        </p:nvSpPr>
        <p:spPr>
          <a:xfrm>
            <a:off x="661475" y="5200551"/>
            <a:ext cx="19050" cy="718939"/>
          </a:xfrm>
          <a:prstGeom prst="roundRect">
            <a:avLst>
              <a:gd name="adj" fmla="val 49999"/>
            </a:avLst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11183360" y="6507361"/>
            <a:ext cx="892649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93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이슈 및 해결 2 - 배터리 저전압 감시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14748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관제에서 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3333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"70% 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↔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3333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 8%를 왕복하는데 로봇 기본 부저만 계속 울린다"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는 보고가 올라왔습니다.</a:t>
            </a:r>
            <a:endParaRPr lang="ko-KR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295"/>
            <a:ext cx="5232666" cy="292248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5914" y="2012355"/>
            <a:ext cx="248041" cy="2480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41259" y="2007295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문제</a:t>
            </a:r>
            <a:endParaRPr lang="ko-KR" sz="1600" dirty="0"/>
          </a:p>
        </p:txBody>
      </p:sp>
      <p:sp>
        <p:nvSpPr>
          <p:cNvPr id="7" name="Text 3"/>
          <p:cNvSpPr/>
          <p:nvPr/>
        </p:nvSpPr>
        <p:spPr>
          <a:xfrm>
            <a:off x="6841259" y="2431058"/>
            <a:ext cx="4695311" cy="436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low_count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는 기준치를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한 번만 넘어도 0으로 초기화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되어, 방전 팩의 전압이 주행 중 처졌다 멈추면 회복하는 패턴에서 연속 3회 조건이 성립하지 않았습니다.</a:t>
            </a:r>
            <a:endParaRPr lang="ko-KR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5914" y="3202980"/>
            <a:ext cx="248041" cy="24804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41259" y="3197920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해결</a:t>
            </a:r>
            <a:endParaRPr lang="ko-KR" sz="1600" dirty="0"/>
          </a:p>
        </p:txBody>
      </p:sp>
      <p:sp>
        <p:nvSpPr>
          <p:cNvPr id="10" name="Text 5"/>
          <p:cNvSpPr/>
          <p:nvPr/>
        </p:nvSpPr>
        <p:spPr>
          <a:xfrm>
            <a:off x="6841259" y="3621683"/>
            <a:ext cx="4695311" cy="635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최근 6개 표본 중 3개가 낮으면 발동하는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창(window) 기반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으로 교체하고, 해제도 창 전체가 기준 이상일 때만 허용했습니다. 또한 중앙값 대신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최저 전압을 별도 발행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하여 6.80V 이하는 즉시 발동하게 했습니다.</a:t>
            </a:r>
            <a:endParaRPr lang="ko-KR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5914" y="4592638"/>
            <a:ext cx="248041" cy="24804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841259" y="4587577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결과</a:t>
            </a:r>
            <a:endParaRPr lang="ko-KR" sz="1600" dirty="0"/>
          </a:p>
        </p:txBody>
      </p:sp>
      <p:sp>
        <p:nvSpPr>
          <p:cNvPr id="13" name="Text 7"/>
          <p:cNvSpPr/>
          <p:nvPr/>
        </p:nvSpPr>
        <p:spPr>
          <a:xfrm>
            <a:off x="6841259" y="5011341"/>
            <a:ext cx="4695311" cy="423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실제 6.75V까지 처지던 상황이 관제 화면에 31%로 표시되던 문제가 해소되어, 위험 상태를 정확히 감지하고 충전소 복귀를 안정적으로 수행하게 되었습니다.</a:t>
            </a:r>
            <a:endParaRPr lang="ko-KR" sz="1000" dirty="0"/>
          </a:p>
        </p:txBody>
      </p:sp>
      <p:sp>
        <p:nvSpPr>
          <p:cNvPr id="14" name="Text 8"/>
          <p:cNvSpPr/>
          <p:nvPr/>
        </p:nvSpPr>
        <p:spPr>
          <a:xfrm>
            <a:off x="661475" y="5806877"/>
            <a:ext cx="11478330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코드로 배터리가 낫지는 않습니다.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0.5V 강하는 "팩이 힘을 못 낸다"는 신호이므로, PR에 실물 점검을 함께 요청했습니다.</a:t>
            </a:r>
            <a:endParaRPr lang="ko-KR" sz="1000" dirty="0"/>
          </a:p>
        </p:txBody>
      </p:sp>
      <p:sp>
        <p:nvSpPr>
          <p:cNvPr id="15" name="Text 9"/>
          <p:cNvSpPr/>
          <p:nvPr/>
        </p:nvSpPr>
        <p:spPr>
          <a:xfrm>
            <a:off x="11183360" y="6507361"/>
            <a:ext cx="892649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892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이슈 및 해결 3 - 환자 이탈 시 충전소 자동 복귀 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06352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안내 중 환자를 놓치면 로봇은 그 자리에서 무기한 기다렸습니다. 자리를 지키는 건 옳지만, 아무도 돌아오지 않으면 복도를 계속 막고 섭니다.</a:t>
            </a:r>
            <a:endParaRPr lang="ko-KR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57003"/>
            <a:ext cx="10868745" cy="34839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80284" y="6507361"/>
            <a:ext cx="895724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199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33333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관제 3D지도 제작 과정</a:t>
            </a:r>
            <a:endParaRPr lang="ko-KR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52811"/>
            <a:ext cx="3354700" cy="21971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236045"/>
            <a:ext cx="396428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실측 기반 3D 모델링</a:t>
            </a:r>
            <a:endParaRPr lang="ko-KR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938" y="1852811"/>
            <a:ext cx="3015381" cy="21820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25938" y="4220865"/>
            <a:ext cx="362496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맵 병합</a:t>
            </a:r>
            <a:endParaRPr lang="ko-KR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082" y="1852811"/>
            <a:ext cx="3691738" cy="21016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51082" y="4140498"/>
            <a:ext cx="430132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최종 디자인</a:t>
            </a:r>
            <a:endParaRPr lang="ko-KR" sz="1300" dirty="0"/>
          </a:p>
        </p:txBody>
      </p:sp>
      <p:sp>
        <p:nvSpPr>
          <p:cNvPr id="9" name="Text 4"/>
          <p:cNvSpPr/>
          <p:nvPr/>
        </p:nvSpPr>
        <p:spPr>
          <a:xfrm>
            <a:off x="11206974" y="6507361"/>
            <a:ext cx="869035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79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이 프로젝트에 기여한 사람들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381224"/>
            <a:ext cx="10868745" cy="952897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26769" y="1546523"/>
            <a:ext cx="1053815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GitHub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6769" y="1904206"/>
            <a:ext cx="1053815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u="sng" dirty="0">
                <a:solidFill>
                  <a:srgbClr val="3E8E4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github.com/mingky_care_pro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520156"/>
            <a:ext cx="10868745" cy="36964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83658" y="6507361"/>
            <a:ext cx="892351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858393"/>
            <a:ext cx="10868745" cy="1033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0" dirty="0">
                <a:solidFill>
                  <a:srgbClr val="33333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 &amp; A</a:t>
            </a:r>
            <a:endParaRPr lang="en-US" sz="6500" dirty="0"/>
          </a:p>
        </p:txBody>
      </p:sp>
      <p:sp>
        <p:nvSpPr>
          <p:cNvPr id="3" name="Text 1"/>
          <p:cNvSpPr/>
          <p:nvPr/>
        </p:nvSpPr>
        <p:spPr>
          <a:xfrm>
            <a:off x="11182368" y="6507361"/>
            <a:ext cx="893641" cy="138906"/>
          </a:xfrm>
          <a:prstGeom prst="rect">
            <a:avLst/>
          </a:prstGeom>
          <a:noFill/>
          <a:ln/>
        </p:spPr>
        <p:txBody>
          <a:bodyPr wrap="none" lIns="0" tIns="52098" rIns="8683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E8E4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2026-08-25T05:07:23Z</dcterms:created>
  <dcterms:modified xsi:type="dcterms:W3CDTF">2026-08-25T05:07:23Z</dcterms:modified>
</cp:coreProperties>
</file>